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slide. This project demonstrates a full enterprise-grade Azure data platform built on real NHS England A&amp;E statistics. Covers 3 years of data, 215 trusts, both batch and streaming pipelines, and all 6 senior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slide — 10 sections covering the full project from architecture through to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sets the context for why this technical project matters. Always lead with the business problem before showing any architecture. The NHS 95% target, 26.7% breach rate, and rising 12hr waits are the real-world stakes behind every architecture decision we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parallel pipelines sharing the same medallion architecture. Batch processes historical NHS CSV files monthly. Streaming processes live simulated A&amp;E events in near real-time.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Medallion architecture is the core data design pattern. Bronze = safe copy. Silver = clean copy. Gold = ready-to-use aggregations for business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batch pipeline is fully automated. Key design decision: Clear_Gold_Container is a Databricks notebook, NOT an ADF Delete activity — the Delete activity deleted the container itself when pointed at the root (happened twice).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critical engineering decisions: Kafka unavailable on Basic tier (used Python SDK instead), and trigger(availableNow=True) makes the Silver notebook bounded so ADF can call it repeatedly.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 layer has 8 tables — all with genuine aggregation using SUM, AVG, RANK, LAG window functions. Redesigned from original passthrough tables after senior feedback that there was no real aggregation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services — none redundant. ADF = when. Databricks = how. Synapse = SQL reporting. ADLS = where. Event Hub = live ingestion. Key Vault = credentials. Logic Apps = alerting.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real problems encountered during the actual build. The ADF Delete/container deletion issue was the most costly — it happened twice before the root cause was identified.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dashboards for two audiences. Batch = planners, commissioners, management. Streaming = operational staff who need real-time visibility during a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item built, tested and confirmed working — not just documented as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questions: Why not Kafka? Basic tier limitation. How handle suppression markers? TRY_CAST/IFERROR pattern. Why Databricks for Gold clearing? ADF Delete deleted the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NHS A&amp;E Data Engineering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BF5"/>
                </a:solidFill>
                <a:latin typeface="Arial"/>
              </a:rPr>
              <a:t>End-to-End Azure Data Platform  ·  Batch &amp; Streaming  ·  Apr 2023 – Mar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EBF5"/>
                </a:solidFill>
                <a:latin typeface="Arial"/>
              </a:rPr>
              <a:t>Azure Data Factory  ·  Databricks  ·  Synapse  ·  Event Hub  ·  Key Vault  ·  Power BI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2560320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246120"/>
            <a:ext cx="23408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33M
A&amp;E Attendances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3200400"/>
            <a:ext cx="2560320" cy="1188720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3246120"/>
            <a:ext cx="23408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215
Trusts Tracked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200400"/>
            <a:ext cx="2560320" cy="1188720"/>
          </a:xfrm>
          <a:prstGeom prst="rect">
            <a:avLst/>
          </a:prstGeom>
          <a:solidFill>
            <a:srgbClr val="46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3246120"/>
            <a:ext cx="23408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8
Gold Tables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560320" cy="118872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3246120"/>
            <a:ext cx="23408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
Live Dashboards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5C6E"/>
                </a:solidFill>
                <a:latin typeface="Arial"/>
              </a:rPr>
              <a:t>Nandamuri Yamini  |  Azure Data Engineering Training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5C6E"/>
                </a:solidFill>
                <a:latin typeface="Arial"/>
              </a:rPr>
              <a:t>Technology: Azure Data Factory · ADLS Gen2 · Databricks · Synapse Analytics · Power BI · Event Hubs · Key Vault · Logic Apps · Unity Catalog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NHS A&amp;E Data Engineering Platform  |  Nandamuri Yamini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EBF5"/>
                </a:solidFill>
                <a:latin typeface="Arial"/>
              </a:rPr>
              <a:t>What this presentation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548640" cy="47548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8016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1170432"/>
            <a:ext cx="1096365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1170432"/>
            <a:ext cx="45720" cy="47548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22529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Business Problem &amp;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225296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5C6E"/>
                </a:solidFill>
                <a:latin typeface="Arial"/>
              </a:rPr>
              <a:t>Why this project exists — the NHS A&amp;E performance crisis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00784"/>
            <a:ext cx="548640" cy="4754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81051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1700784"/>
            <a:ext cx="1096365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" y="1700784"/>
            <a:ext cx="45720" cy="4754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17556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Solution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755648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5C6E"/>
                </a:solidFill>
                <a:latin typeface="Arial"/>
              </a:rPr>
              <a:t>End-to-end batch and streaming data platform overview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231136"/>
            <a:ext cx="548640" cy="47548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34086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" y="2231136"/>
            <a:ext cx="1096365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" y="2231136"/>
            <a:ext cx="45720" cy="47548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22860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Medallion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286000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5C6E"/>
                </a:solidFill>
                <a:latin typeface="Arial"/>
              </a:rPr>
              <a:t>Bronze → Silver → Gold — three layers, one clear purpose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761488"/>
            <a:ext cx="548640" cy="4754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8712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" y="2761488"/>
            <a:ext cx="1096365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6112" y="2761488"/>
            <a:ext cx="45720" cy="4754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28163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Batch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2816352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5C6E"/>
                </a:solidFill>
                <a:latin typeface="Arial"/>
              </a:rPr>
              <a:t>How historical NHS A&amp;E data flows from CSV to dashboard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291840"/>
            <a:ext cx="548640" cy="47548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4015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" y="3291840"/>
            <a:ext cx="1096365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6112" y="3291840"/>
            <a:ext cx="45720" cy="47548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33467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Streaming Pipeline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3346704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5C6E"/>
                </a:solidFill>
                <a:latin typeface="Arial"/>
              </a:rPr>
              <a:t>How live A&amp;E events are captured and processed in near real-time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822191"/>
            <a:ext cx="548640" cy="4754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9319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" y="3822191"/>
            <a:ext cx="1096365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6112" y="3822191"/>
            <a:ext cx="45720" cy="4754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387705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Gold Layer — 8 Tables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3877055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5C6E"/>
                </a:solidFill>
                <a:latin typeface="Arial"/>
              </a:rPr>
              <a:t>Business-ready aggregated tables built in Synapse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352544"/>
            <a:ext cx="548640" cy="47548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446227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" y="4352544"/>
            <a:ext cx="1096365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6112" y="4352544"/>
            <a:ext cx="45720" cy="47548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560" y="44074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Azure Services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40" y="4407407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5C6E"/>
                </a:solidFill>
                <a:latin typeface="Arial"/>
              </a:rPr>
              <a:t>Seven services used — each with a specific, non-overlapping role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882896"/>
            <a:ext cx="548640" cy="4754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499262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" y="4882896"/>
            <a:ext cx="1096365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96112" y="4882896"/>
            <a:ext cx="45720" cy="4754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1560" y="493775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Engineering Challenges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34840" y="4937759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5C6E"/>
                </a:solidFill>
                <a:latin typeface="Arial"/>
              </a:rPr>
              <a:t>Real problems hit during the build and how they were fixed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413248"/>
            <a:ext cx="548640" cy="47548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552297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6112" y="5413248"/>
            <a:ext cx="1096365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96112" y="5413248"/>
            <a:ext cx="45720" cy="47548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1560" y="54681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Power BI Dashboards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4840" y="5468112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5C6E"/>
                </a:solidFill>
                <a:latin typeface="Arial"/>
              </a:rPr>
              <a:t>Batch (historical insight) and Streaming (live monitoring)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943600"/>
            <a:ext cx="548640" cy="4754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60533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6112" y="5943600"/>
            <a:ext cx="1096365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96112" y="5943600"/>
            <a:ext cx="45720" cy="4754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1560" y="59984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Project Outcomes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34840" y="5998464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5C6E"/>
                </a:solidFill>
                <a:latin typeface="Arial"/>
              </a:rPr>
              <a:t>What was delivered, tested and confirmed working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NHS A&amp;E Data Engineering Platform  |  Nandamuri Yamini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Business 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EBF5"/>
                </a:solidFill>
                <a:latin typeface="Arial"/>
              </a:rPr>
              <a:t>Why this project exists — the NHS A&amp;E performance crisis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539496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5394960" cy="384048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161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64208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A291C"/>
                </a:solidFill>
                <a:latin typeface="Arial"/>
              </a:rPr>
              <a:t>✗  95% Target Never Met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92024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5C6E"/>
                </a:solidFill>
                <a:latin typeface="Arial"/>
              </a:rPr>
              <a:t>The NHS has a legal commitment that 95% of A&amp;E patients are seen within 4 hours. This target has not been met nationally in over 3 years — not once.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377440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A291C"/>
                </a:solidFill>
                <a:latin typeface="Arial"/>
              </a:rPr>
              <a:t>✗  1 in 4 Patients Waiting Too Long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63347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5C6E"/>
                </a:solidFill>
                <a:latin typeface="Arial"/>
              </a:rPr>
              <a:t>26.7% of patients — more than 1 in 4 — wait longer than the promised 4 hours. The NHS target is 5%. We are 5x over that threshold.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090672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A291C"/>
                </a:solidFill>
                <a:latin typeface="Arial"/>
              </a:rPr>
              <a:t>✗  12-Hour Waits Rising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346704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5C6E"/>
                </a:solidFill>
                <a:latin typeface="Arial"/>
              </a:rPr>
              <a:t>While the 4-hour breach rate stays flat, the number of patients waiting 12+ hours is actively climbing — nearly 80,000 in a single month by early 2026.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803904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A291C"/>
                </a:solidFill>
                <a:latin typeface="Arial"/>
              </a:rPr>
              <a:t>✗  No Visibility Across 215 Trusts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4059936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5C6E"/>
                </a:solidFill>
                <a:latin typeface="Arial"/>
              </a:rPr>
              <a:t>NHS England needed a way to compare all 215 hospital trusts simultaneously, identify the worst performers, and track whether improvement is happening anywhere.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517136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A291C"/>
                </a:solidFill>
                <a:latin typeface="Arial"/>
              </a:rPr>
              <a:t>✗  No Live Operational Alerting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477316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5C6E"/>
                </a:solidFill>
                <a:latin typeface="Arial"/>
              </a:rPr>
              <a:t>Traditional monthly reports mean problems are discovered weeks after they happen. A patient leaving A&amp;E before being seen is a safety signal — but only if caught the same 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91072" y="1170432"/>
            <a:ext cx="55778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91072" y="1170432"/>
            <a:ext cx="5577840" cy="384048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12161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THE SOLUTION — THIS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664208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39"/>
                </a:solidFill>
                <a:latin typeface="Arial"/>
              </a:rPr>
              <a:t>✓  3 Years of Real NHS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9202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5C6E"/>
                </a:solidFill>
                <a:latin typeface="Arial"/>
              </a:rPr>
              <a:t>33 million attendance records across 215 trusts, April 2023 – March 2026. Real data, not sample data — every NHS England report in this period.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377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39"/>
                </a:solidFill>
                <a:latin typeface="Arial"/>
              </a:rPr>
              <a:t>✓  Automated Data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6334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5C6E"/>
                </a:solidFill>
                <a:latin typeface="Arial"/>
              </a:rPr>
              <a:t>ADF orchestrates Bronze → Silver → Gold automatically. Refreshing the entire dataset takes one click — not a day of manual SQL and spreadsheet 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09067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39"/>
                </a:solidFill>
                <a:latin typeface="Arial"/>
              </a:rPr>
              <a:t>✓  Trust-by-Trust RAG Ranking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34670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5C6E"/>
                </a:solidFill>
                <a:latin typeface="Arial"/>
              </a:rPr>
              <a:t>Every trust ranked by 4-hour performance with RAG colouring (Red/Amber/Green). The 10 worst performers identified clearly — not buried in a table of 215 rows.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803904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39"/>
                </a:solidFill>
                <a:latin typeface="Arial"/>
              </a:rPr>
              <a:t>✓  Regional &amp; Demographic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05993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5C6E"/>
                </a:solidFill>
                <a:latin typeface="Arial"/>
              </a:rPr>
              <a:t>Which regions are under most pressure? Who is actually using A&amp;E (working-age adults, not just the elderly)? Both questions answered in one dashboard.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17136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39"/>
                </a:solidFill>
                <a:latin typeface="Arial"/>
              </a:rPr>
              <a:t>✓  Live Streaming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7731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5C6E"/>
                </a:solidFill>
                <a:latin typeface="Arial"/>
              </a:rPr>
              <a:t>Near real-time A&amp;E event monitoring — dispositions, attendance types, and safety signals (patients leaving before treatment) visible as they happen, not next month.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NHS A&amp;E Data Engineering Platform  |  Nandamuri Yamini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EBF5"/>
                </a:solidFill>
                <a:latin typeface="Arial"/>
              </a:rPr>
              <a:t>Two parallel pipelines — batch for history, streaming for live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5EB8"/>
                </a:solidFill>
                <a:latin typeface="Arial"/>
              </a:rPr>
              <a:t>BATCH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1711452" cy="56692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536192"/>
            <a:ext cx="156514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NHS CSV
Files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7524" y="1463040"/>
            <a:ext cx="1711452" cy="56692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60676" y="1536192"/>
            <a:ext cx="156514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ADF
Orchestration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5008" y="1463040"/>
            <a:ext cx="1711452" cy="566928"/>
          </a:xfrm>
          <a:prstGeom prst="rect">
            <a:avLst/>
          </a:prstGeom>
          <a:solidFill>
            <a:srgbClr val="8B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8160" y="1536192"/>
            <a:ext cx="156514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Bronze
Databricks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2492" y="1463040"/>
            <a:ext cx="1711452" cy="566928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5644" y="1536192"/>
            <a:ext cx="156514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Silver
Databricks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9976" y="1463040"/>
            <a:ext cx="1711452" cy="566928"/>
          </a:xfrm>
          <a:prstGeom prst="rect">
            <a:avLst/>
          </a:prstGeom>
          <a:solidFill>
            <a:srgbClr val="46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3128" y="1536192"/>
            <a:ext cx="156514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Gold
Synapse SQL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57460" y="1463040"/>
            <a:ext cx="1711452" cy="566928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30612" y="1536192"/>
            <a:ext cx="156514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Power BI
Dashboard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49780" y="1746504"/>
            <a:ext cx="219456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17264" y="1746504"/>
            <a:ext cx="219456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84748" y="1746504"/>
            <a:ext cx="219456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952232" y="1746504"/>
            <a:ext cx="219456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919716" y="1746504"/>
            <a:ext cx="219456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004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81C"/>
                </a:solidFill>
                <a:latin typeface="Arial"/>
              </a:rPr>
              <a:t>STREAMING PIPELINE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880360"/>
            <a:ext cx="1711452" cy="56692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2953512"/>
            <a:ext cx="156514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Event
Producer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7524" y="2880360"/>
            <a:ext cx="1711452" cy="56692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60676" y="2953512"/>
            <a:ext cx="156514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Azure
Event Hub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5008" y="2880360"/>
            <a:ext cx="1711452" cy="566928"/>
          </a:xfrm>
          <a:prstGeom prst="rect">
            <a:avLst/>
          </a:prstGeom>
          <a:solidFill>
            <a:srgbClr val="8B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28160" y="2953512"/>
            <a:ext cx="156514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Bronze
Databricks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2492" y="2880360"/>
            <a:ext cx="1711452" cy="566928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5644" y="2953512"/>
            <a:ext cx="156514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Silver
Databricks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9976" y="2880360"/>
            <a:ext cx="1711452" cy="566928"/>
          </a:xfrm>
          <a:prstGeom prst="rect">
            <a:avLst/>
          </a:prstGeom>
          <a:solidFill>
            <a:srgbClr val="46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63128" y="2953512"/>
            <a:ext cx="156514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Gold
Synapse SQL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57460" y="2880360"/>
            <a:ext cx="1711452" cy="566928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30612" y="2953512"/>
            <a:ext cx="156514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Live BI
Dashboard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049780" y="3163824"/>
            <a:ext cx="219456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017264" y="3163824"/>
            <a:ext cx="219456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984748" y="3163824"/>
            <a:ext cx="219456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952232" y="3163824"/>
            <a:ext cx="219456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19716" y="3163824"/>
            <a:ext cx="219456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20040" y="3794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5C6E"/>
                </a:solidFill>
                <a:latin typeface="Arial"/>
              </a:rPr>
              <a:t>SUPPORTING SERVICES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069080"/>
            <a:ext cx="2104948" cy="4754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" y="4142232"/>
            <a:ext cx="19586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ADLS Gen2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81020" y="4069080"/>
            <a:ext cx="2104948" cy="4754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54172" y="4142232"/>
            <a:ext cx="19586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Key Vault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42001" y="4069080"/>
            <a:ext cx="2104948" cy="4754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15153" y="4142232"/>
            <a:ext cx="19586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Unity Catalog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02982" y="4069080"/>
            <a:ext cx="2104948" cy="4754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76134" y="4142232"/>
            <a:ext cx="19586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Logic App Alerts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63963" y="4069080"/>
            <a:ext cx="2104948" cy="47548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37115" y="4142232"/>
            <a:ext cx="19586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ADF Linked Services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443276" y="4306824"/>
            <a:ext cx="219456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804257" y="4306824"/>
            <a:ext cx="219456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165238" y="4306824"/>
            <a:ext cx="219456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26219" y="4306824"/>
            <a:ext cx="219456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NHS A&amp;E Data Engineering Platform  |  Nandamuri Yamini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Medallion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EBF5"/>
                </a:solidFill>
                <a:latin typeface="Arial"/>
              </a:rPr>
              <a:t>Three layers — each with one clear purpose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794760" cy="5029200"/>
          </a:xfrm>
          <a:prstGeom prst="rect">
            <a:avLst/>
          </a:prstGeom>
          <a:solidFill>
            <a:srgbClr val="8B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298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BRONZE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691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EBF5"/>
                </a:solidFill>
                <a:latin typeface="Arial"/>
              </a:rPr>
              <a:t>Raw Data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•  Copy of source files — untouched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7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•  Delta format in ADLS Gen2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3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•  Tracking: _source_file, _ingested_at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39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•  Original NHS column headers preserved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5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•  Unity Catalog: yamini_bronze schema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33087" y="3657600"/>
            <a:ext cx="320040" cy="0"/>
          </a:xfrm>
          <a:prstGeom prst="line">
            <a:avLst/>
          </a:prstGeom>
          <a:ln w="2540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453127" y="1188720"/>
            <a:ext cx="3794760" cy="5029200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19" y="1298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SILVER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19" y="1691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EBF5"/>
                </a:solidFill>
                <a:latin typeface="Arial"/>
              </a:rPr>
              <a:t>Cleansed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7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•  Column names → snake_case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7" y="246887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•  report_date → real DATE type (TRY_CAST)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7" y="283463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•  Duplicate rows removed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7" y="320039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•  NHS suppression markers handled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7" y="356615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•  Unity Catalog: yamini_silver schema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66175" y="3657600"/>
            <a:ext cx="320040" cy="0"/>
          </a:xfrm>
          <a:prstGeom prst="line">
            <a:avLst/>
          </a:prstGeom>
          <a:ln w="2540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586215" y="1188720"/>
            <a:ext cx="3794760" cy="5029200"/>
          </a:xfrm>
          <a:prstGeom prst="rect">
            <a:avLst/>
          </a:prstGeom>
          <a:solidFill>
            <a:srgbClr val="46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50807" y="1298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GOLD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807" y="1691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EBF5"/>
                </a:solidFill>
                <a:latin typeface="Arial"/>
              </a:rPr>
              <a:t>Business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5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•  8 aggregated tables with real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14815" y="246887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•  SUM, AVG, RANK, LAG window functions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14815" y="283463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•  CETAS external tables in Synapse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14815" y="320039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•  Rebuilt by ADF Script activity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14815" y="356615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•  Feeds Power BI DirectQuery dashboards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NHS A&amp;E Data Engineering Platform  |  Nandamuri Yamini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Batch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EBF5"/>
                </a:solidFill>
                <a:latin typeface="Arial"/>
              </a:rPr>
              <a:t>Automated end-to-end — one click refreshes Bronze through Gold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240280" cy="4572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29844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1. Source (6 datasets)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" y="18288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monthly_ae_summary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" y="21031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ae_by_provider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" y="237743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nel_ytd_growth_rates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59" y="265175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ecds_activity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" y="292607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ecds_performance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59" y="320039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ecds_supplementary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78608" y="1463040"/>
            <a:ext cx="274320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852928" y="1234440"/>
            <a:ext cx="2240280" cy="4572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4368" y="129844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2. ADF Triggers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18288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Run_Bronze_Ingestion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21031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Run_Silver_Transformation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237743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Clear_Gold_Tables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265175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Gold_Tables Script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11496" y="1463040"/>
            <a:ext cx="274320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385816" y="1234440"/>
            <a:ext cx="2240280" cy="457200"/>
          </a:xfrm>
          <a:prstGeom prst="rect">
            <a:avLst/>
          </a:prstGeom>
          <a:solidFill>
            <a:srgbClr val="8B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77256" y="129844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3. Bronze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1536" y="18288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Delta format write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31536" y="21031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Column mapping: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1536" y="237743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Unity Catalog registered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31536" y="265175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yamini_bronze schema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44384" y="1463040"/>
            <a:ext cx="274320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918704" y="1234440"/>
            <a:ext cx="2240280" cy="457200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0144" y="129844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4. Silver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4424" y="18288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Standardise columns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64424" y="21031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Fix date types (TRY_CAST)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4424" y="237743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Remove duplicates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64424" y="265175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yamini_silver schema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177272" y="1463040"/>
            <a:ext cx="274320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0451592" y="1234440"/>
            <a:ext cx="2240280" cy="457200"/>
          </a:xfrm>
          <a:prstGeom prst="rect">
            <a:avLst/>
          </a:prstGeom>
          <a:solidFill>
            <a:srgbClr val="46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43032" y="129844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5. Gold (8 tables)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97312" y="18288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RANK, LAG, SUM, AVG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97312" y="21031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CETAS external tables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97312" y="237743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Rebuilt by ADF Script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97312" y="265175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Synapse gold_db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297680"/>
            <a:ext cx="115488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" y="4297680"/>
            <a:ext cx="54864" cy="96012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3708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A291C"/>
                </a:solidFill>
                <a:latin typeface="Arial"/>
              </a:rPr>
              <a:t>⚠  Failure Notification Path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64515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5C6E"/>
                </a:solidFill>
                <a:latin typeface="Arial"/>
              </a:rPr>
              <a:t>Any activity fails  →  Get_Webhook_URL (Key Vault REST API, Managed Identity)  →  Notify_Failure (POST to Logic App)  →  Email via SMTP Rackspace  →  Inbox alert with pipeline name, run ID and error message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5394960"/>
            <a:ext cx="11548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B81C"/>
                </a:solidFill>
                <a:latin typeface="Arial"/>
              </a:rPr>
              <a:t>Note: Clear_Gold_Tables uses a Databricks notebook (dbutils.fs.rm per named folder) — NOT an ADF Delete activity, which deleted the whole container when pointed at the root.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NHS A&amp;E Data Engineering Platform  |  Nandamuri Yamini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Streaming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EBF5"/>
                </a:solidFill>
                <a:latin typeface="Arial"/>
              </a:rPr>
              <a:t>Near real-time A&amp;E event processing via Azure Event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240280" cy="4572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29844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1. Producer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" y="18288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ae_event_producer.py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" y="21031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Synthetic A&amp;E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" y="237743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Random trust/age/outcome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59" y="265175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Runs on local laptop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78608" y="1463040"/>
            <a:ext cx="274320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852928" y="1234440"/>
            <a:ext cx="2240280" cy="457200"/>
          </a:xfrm>
          <a:prstGeom prst="rect">
            <a:avLst/>
          </a:prstGeom>
          <a:solidFill>
            <a:srgbClr val="007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4368" y="129844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2. Event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18288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Basic tier namespace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21031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ae-events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37743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Consumer group: $Default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265175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Connection string in KV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11496" y="1463040"/>
            <a:ext cx="274320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385816" y="1234440"/>
            <a:ext cx="2240280" cy="457200"/>
          </a:xfrm>
          <a:prstGeom prst="rect">
            <a:avLst/>
          </a:prstGeom>
          <a:solidFill>
            <a:srgbClr val="8B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7256" y="129844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3. Bronze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536" y="18288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azure-eventhub Python SDK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31536" y="21031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6 × 20 sec polling cycles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1536" y="237743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Appends to Bronze Delta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31536" y="265175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yamini_bronze schema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44384" y="1463040"/>
            <a:ext cx="274320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918704" y="1234440"/>
            <a:ext cx="2240280" cy="457200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0144" y="129844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4. Silver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4424" y="18288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Spark Structured Streaming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64424" y="21031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to_timestamp(arrival_time)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4424" y="237743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dropDuplicates(event_id)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64424" y="265175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trigger(availableNow=True)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177272" y="1463040"/>
            <a:ext cx="274320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0451592" y="1234440"/>
            <a:ext cx="2240280" cy="457200"/>
          </a:xfrm>
          <a:prstGeom prst="rect">
            <a:avLst/>
          </a:prstGeom>
          <a:solidFill>
            <a:srgbClr val="46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43032" y="129844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5. Gold + BI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97312" y="18288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live_ae_events (CETAS)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97312" y="21031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Snapshot — manual refresh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97312" y="237743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Live Power BI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97312" y="2651759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Disposition RAG colours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297680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4297680"/>
            <a:ext cx="54864" cy="128016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3708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A291C"/>
                </a:solidFill>
                <a:latin typeface="Arial"/>
              </a:rPr>
              <a:t>Why not Kafka?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645152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Event Hub Basic tier does NOT support Kafka protocol — a hard pricing-tier limitation. Workaround: azure-eventhub Python SDK with manual 6×20s polling bursts instead of a native streaming connector.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91072" y="4297680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91072" y="4297680"/>
            <a:ext cx="54864" cy="1280160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3952" y="43708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39"/>
                </a:solidFill>
                <a:latin typeface="Arial"/>
              </a:rPr>
              <a:t>trigger(availableNow=True)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3952" y="4645152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Without this, Spark Structured Streaming runs forever — meaning ADF would stack up infinite background jobs each time it triggered the pipeline. This setting makes Silver a bounded, safe-to-reschedule job.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NHS A&amp;E Data Engineering Platform  |  Nandamuri Yamini  |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Gold Layer — 8 Business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EBF5"/>
                </a:solidFill>
                <a:latin typeface="Arial"/>
              </a:rPr>
              <a:t>Redesigned from scratch: real aggregations that answer real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5577840" cy="62179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252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national_monthly_trend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9961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EBF5"/>
                </a:solidFill>
                <a:latin typeface="Arial"/>
              </a:rPr>
              <a:t>National monthly totals — SUM all attendance types by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65376"/>
            <a:ext cx="5577840" cy="62179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national_yearly_trend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EBF5"/>
                </a:solidFill>
                <a:latin typeface="Arial"/>
              </a:rPr>
              <a:t>Year-over-year view + pct_over4hrs breach ratio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560320"/>
            <a:ext cx="5577840" cy="621792"/>
          </a:xfrm>
          <a:prstGeom prst="rect">
            <a:avLst/>
          </a:prstGeom>
          <a:solidFill>
            <a:srgbClr val="46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1518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trust_performance_ranking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89503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EBF5"/>
                </a:solidFill>
                <a:latin typeface="Arial"/>
              </a:rPr>
              <a:t>RANK() per period + LAG() period-over-period change per trust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255263"/>
            <a:ext cx="5577840" cy="621792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1012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regional_summary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84447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EBF5"/>
                </a:solidFill>
                <a:latin typeface="Arial"/>
              </a:rPr>
              <a:t>SUM/AVG/COUNT by NHS region — identifies where pressure is highest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1170432"/>
            <a:ext cx="5577840" cy="621792"/>
          </a:xfrm>
          <a:prstGeom prst="rect">
            <a:avLst/>
          </a:prstGeom>
          <a:solidFill>
            <a:srgbClr val="007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12252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nel_ytd_growth_rates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149961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EBF5"/>
                </a:solidFill>
                <a:latin typeface="Arial"/>
              </a:rPr>
              <a:t>Non-elective growth vs regional benchmark (AVG OVER PARTITION)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1865376"/>
            <a:ext cx="5577840" cy="62179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19202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ecds_demographic_summary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219456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EBF5"/>
                </a:solidFill>
                <a:latin typeface="Arial"/>
              </a:rPr>
              <a:t>Age / gender / ethnicity / frailty / chief complaint — consolidated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2560320"/>
            <a:ext cx="5577840" cy="621792"/>
          </a:xfrm>
          <a:prstGeom prst="rect">
            <a:avLst/>
          </a:prstGeom>
          <a:solidFill>
            <a:srgbClr val="8B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261518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ecds_org_summary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2889503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EBF5"/>
                </a:solidFill>
                <a:latin typeface="Arial"/>
              </a:rPr>
              <a:t>Per-organisation totals across all available reporting periods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91072" y="3255263"/>
            <a:ext cx="5577840" cy="621792"/>
          </a:xfrm>
          <a:prstGeom prst="rect">
            <a:avLst/>
          </a:prstGeom>
          <a:solidFill>
            <a:srgbClr val="2A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331012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ecds_performance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3584447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8EBF5"/>
                </a:solidFill>
                <a:latin typeface="Arial"/>
              </a:rPr>
              <a:t>AVG / MIN / MAX per metric — shows spread across organisations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08076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5C6E"/>
                </a:solidFill>
                <a:latin typeface="Arial"/>
              </a:rPr>
              <a:t>All tables are CETAS (CREATE EXTERNAL TABLE AS SELECT) in Synapse Serverless SQL, rebuilt automatically on every pipeline run by ADF's Script activity.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NHS A&amp;E Data Engineering Platform  |  Nandamuri Yamini  |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Azure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EBF5"/>
                </a:solidFill>
                <a:latin typeface="Arial"/>
              </a:rPr>
              <a:t>Seven services — each with a specific, non-overlapping 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1154887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54864" cy="62179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252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Azure Data Factory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22529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25C6E"/>
                </a:solidFill>
                <a:latin typeface="Arial"/>
              </a:rPr>
              <a:t>yamini-project-adf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22529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Orchestrates the full pipeline — triggers Databricks notebooks and Synapse Script activity in 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65376"/>
            <a:ext cx="1154887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865376"/>
            <a:ext cx="54864" cy="621792"/>
          </a:xfrm>
          <a:prstGeom prst="rect">
            <a:avLst/>
          </a:prstGeom>
          <a:solidFill>
            <a:srgbClr val="007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202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ADLS Gen2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9202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25C6E"/>
                </a:solidFill>
                <a:latin typeface="Arial"/>
              </a:rPr>
              <a:t>yaminiprojectadls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Storage for all layers — raw/, bronze/, silver/, gold/ containers with Delta/Parquet files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560320"/>
            <a:ext cx="1154887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560320"/>
            <a:ext cx="54864" cy="621792"/>
          </a:xfrm>
          <a:prstGeom prst="rect">
            <a:avLst/>
          </a:prstGeom>
          <a:solidFill>
            <a:srgbClr val="8B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6151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Databricks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61518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25C6E"/>
                </a:solidFill>
                <a:latin typeface="Arial"/>
              </a:rPr>
              <a:t>adb-training-bd cluster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1518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Processing engine — Bronze ingestion, Silver cleaning and Gold container clearing notebooks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55263"/>
            <a:ext cx="1154887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255263"/>
            <a:ext cx="54864" cy="621792"/>
          </a:xfrm>
          <a:prstGeom prst="rect">
            <a:avLst/>
          </a:prstGeom>
          <a:solidFill>
            <a:srgbClr val="46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310127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Synapse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31012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25C6E"/>
                </a:solidFill>
                <a:latin typeface="Arial"/>
              </a:rPr>
              <a:t>syn-bd-training-uk (Serverless SQL, gold_db)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310127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Gold layer — 8 CETAS external tables queried by Power BI via DirectQuery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950207"/>
            <a:ext cx="1154887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950207"/>
            <a:ext cx="54864" cy="621792"/>
          </a:xfrm>
          <a:prstGeom prst="rect">
            <a:avLst/>
          </a:prstGeom>
          <a:solidFill>
            <a:srgbClr val="2A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005071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Azure Event Hubs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4005071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25C6E"/>
                </a:solidFill>
                <a:latin typeface="Arial"/>
              </a:rPr>
              <a:t>ae-events hub (Basic tier)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005071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Streaming message broker — receives synthetic A&amp;E events from the producer script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645151"/>
            <a:ext cx="1154887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645151"/>
            <a:ext cx="54864" cy="62179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700015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Key Vault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4700015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25C6E"/>
                </a:solidFill>
                <a:latin typeface="Arial"/>
              </a:rPr>
              <a:t>kv-bd-training-uk (shared training vault)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700015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Secrets — storage key, Event Hub connection string, Logic App webhook URL. Zero hardcoded credentials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340095"/>
            <a:ext cx="1154887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5340095"/>
            <a:ext cx="54864" cy="62179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39495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Logic Apps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539495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25C6E"/>
                </a:solidFill>
                <a:latin typeface="Arial"/>
              </a:rPr>
              <a:t>la-nhs-pipeline-alerts (Consumption plan)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39495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Failure alerting — HTTP trigger receives pipeline details, sends email via SMTP/Rackspace connector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NHS A&amp;E Data Engineering Platform  |  Nandamuri Yamini  | 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Engineering Challenges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EBF5"/>
                </a:solidFill>
                <a:latin typeface="Arial"/>
              </a:rPr>
              <a:t>Real problems encountered during the build — and how they were fixed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3703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3703320" cy="54864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2618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A291C"/>
                </a:solidFill>
                <a:latin typeface="Arial"/>
              </a:rPr>
              <a:t>✗  Excel Date Corruption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57276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5C6E"/>
                </a:solidFill>
                <a:latin typeface="Arial"/>
              </a:rPr>
              <a:t>NHS CSVs re-saved in Excel reformatted dates silently — 'October 2025' became '10-01-25', breaking Synapse parsing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2633472"/>
            <a:ext cx="3474720" cy="36576"/>
          </a:xfrm>
          <a:prstGeom prst="rect">
            <a:avLst/>
          </a:prstGeom>
          <a:solidFill>
            <a:srgbClr val="AEC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7249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9639"/>
                </a:solidFill>
                <a:latin typeface="Arial"/>
              </a:rPr>
              <a:t>Solution: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98094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3087"/>
                </a:solidFill>
                <a:latin typeface="Arial"/>
              </a:rPr>
              <a:t>Regenerated CSVs directly from original Excel workbooks using Python — never open source files in Excel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1170432"/>
            <a:ext cx="3703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1170432"/>
            <a:ext cx="3703320" cy="54864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12618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A291C"/>
                </a:solidFill>
                <a:latin typeface="Arial"/>
              </a:rPr>
              <a:t>✗  NHS Suppression Markers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157276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5C6E"/>
                </a:solidFill>
                <a:latin typeface="Arial"/>
              </a:rPr>
              <a:t>Columns containing '-' or '*' (patient privacy) were inferred as VARCHAR — SUM/AVG failed with type errors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71416" y="2633472"/>
            <a:ext cx="3474720" cy="36576"/>
          </a:xfrm>
          <a:prstGeom prst="rect">
            <a:avLst/>
          </a:prstGeom>
          <a:solidFill>
            <a:srgbClr val="AEC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1416" y="27249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9639"/>
                </a:solidFill>
                <a:latin typeface="Arial"/>
              </a:rPr>
              <a:t>Solution: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298094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3087"/>
                </a:solidFill>
                <a:latin typeface="Arial"/>
              </a:rPr>
              <a:t>TRY_CAST(column AS FLOAT) in Synapse SQL · IFERROR(VALUE(), 0) DAX pattern in Power BI measures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3336" y="1170432"/>
            <a:ext cx="3703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03336" y="1170432"/>
            <a:ext cx="3703320" cy="54864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13063" y="12618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A291C"/>
                </a:solidFill>
                <a:latin typeface="Arial"/>
              </a:rPr>
              <a:t>✗  ADF Delete Removed Container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3063" y="157276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5C6E"/>
                </a:solidFill>
                <a:latin typeface="Arial"/>
              </a:rPr>
              <a:t>ADF Delete activity with Recursive on container root deleted the ENTIRE gold container — happened twice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13063" y="2633472"/>
            <a:ext cx="3474720" cy="36576"/>
          </a:xfrm>
          <a:prstGeom prst="rect">
            <a:avLst/>
          </a:prstGeom>
          <a:solidFill>
            <a:srgbClr val="AEC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13063" y="27249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9639"/>
                </a:solidFill>
                <a:latin typeface="Arial"/>
              </a:rPr>
              <a:t>Solution: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13063" y="298094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3087"/>
                </a:solidFill>
                <a:latin typeface="Arial"/>
              </a:rPr>
              <a:t>Replaced with Databricks notebook: dbutils.fs.rm() on specific named subfolders only, never the root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776472"/>
            <a:ext cx="3703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776472"/>
            <a:ext cx="3703320" cy="54864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386791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A291C"/>
                </a:solidFill>
                <a:latin typeface="Arial"/>
              </a:rPr>
              <a:t>✗  GO Syntax Unsupported in ADF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" y="417880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5C6E"/>
                </a:solidFill>
                <a:latin typeface="Arial"/>
              </a:rPr>
              <a:t>ADF Script activity sends SQL directly to the engine — GO is a client-tool separator, not real T-SQL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" y="5239512"/>
            <a:ext cx="3474720" cy="36576"/>
          </a:xfrm>
          <a:prstGeom prst="rect">
            <a:avLst/>
          </a:prstGeom>
          <a:solidFill>
            <a:srgbClr val="AEC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53309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9639"/>
                </a:solidFill>
                <a:latin typeface="Arial"/>
              </a:rPr>
              <a:t>Solution: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5586983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3087"/>
                </a:solidFill>
                <a:latin typeface="Arial"/>
              </a:rPr>
              <a:t>Split into 9 separate query blocks (1 DROP block + 8 individual CREATE EXTERNAL TABLE statements)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61688" y="3776472"/>
            <a:ext cx="3703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61688" y="3776472"/>
            <a:ext cx="3703320" cy="54864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71416" y="386791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A291C"/>
                </a:solidFill>
                <a:latin typeface="Arial"/>
              </a:rPr>
              <a:t>✗  Event Hub Basic = No Kafka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71416" y="417880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5C6E"/>
                </a:solidFill>
                <a:latin typeface="Arial"/>
              </a:rPr>
              <a:t>Basic pricing tier does not support the Kafka protocol — a hard Azure limitation, not a misconfiguration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71416" y="5239512"/>
            <a:ext cx="3474720" cy="36576"/>
          </a:xfrm>
          <a:prstGeom prst="rect">
            <a:avLst/>
          </a:prstGeom>
          <a:solidFill>
            <a:srgbClr val="AEC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71416" y="53309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9639"/>
                </a:solidFill>
                <a:latin typeface="Arial"/>
              </a:rPr>
              <a:t>Solution: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71416" y="5586983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3087"/>
                </a:solidFill>
                <a:latin typeface="Arial"/>
              </a:rPr>
              <a:t>Used azure-eventhub Python SDK directly with 6×20 second manual polling bursts inside Databricks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03336" y="3776472"/>
            <a:ext cx="3703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03336" y="3776472"/>
            <a:ext cx="3703320" cy="54864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13063" y="386791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A291C"/>
                </a:solidFill>
                <a:latin typeface="Arial"/>
              </a:rPr>
              <a:t>✗  Two Separate SAS Credentials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13063" y="417880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5C6E"/>
                </a:solidFill>
                <a:latin typeface="Arial"/>
              </a:rPr>
              <a:t>StorageSAS and GoldStorageCredential in Synapse are SEPARATE objects — updating one didn't fix the other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13063" y="5239512"/>
            <a:ext cx="3474720" cy="36576"/>
          </a:xfrm>
          <a:prstGeom prst="rect">
            <a:avLst/>
          </a:prstGeom>
          <a:solidFill>
            <a:srgbClr val="AEC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13063" y="53309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9639"/>
                </a:solidFill>
                <a:latin typeface="Arial"/>
              </a:rPr>
              <a:t>Solution: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13063" y="5586983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3087"/>
                </a:solidFill>
                <a:latin typeface="Arial"/>
              </a:rPr>
              <a:t>Must update both via ALTER DATABASE SCOPED CREDENTIAL with a fresh SAS token including Create+Write permissions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NHS A&amp;E Data Engineering Platform  |  Nandamuri Yamini  | 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Power BI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EBF5"/>
                </a:solidFill>
                <a:latin typeface="Arial"/>
              </a:rPr>
              <a:t>Two dashboards — historical insight and live operational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55778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5577840" cy="41148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1615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BATCH DASHBOARD — Historical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25C6E"/>
                </a:solidFill>
                <a:latin typeface="Arial"/>
              </a:rPr>
              <a:t>Source: Synapse gold_db · Connection: DirectQuery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 5 KPI cards: 33M attendances, 215 trusts, 26.7% breach, avg trust improvement, 1M 12hr waits (red)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2257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 Dual-line trend: % within 4hrs + 12hr waits climbing — shows worsening long waits clearly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249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 Trust Bottom 10 RAG chart — all red, all below 70% target, proper NHS RAG colours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272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 Regional Volume vs Performance — dual-axis showing pressure by geography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958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 Demographic breakdown (age / gender / ethnicity) — interactive slicer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31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 Trust Biggest Improvers — shows who is actually making progress period-over-period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342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 Date slicer — filters all visuals to any time window interactively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1170432"/>
            <a:ext cx="55778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1072" y="1170432"/>
            <a:ext cx="5577840" cy="411480"/>
          </a:xfrm>
          <a:prstGeom prst="rect">
            <a:avLst/>
          </a:prstGeom>
          <a:solidFill>
            <a:srgbClr val="007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1216152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STREAMING DASHBOARD — Live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162763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25C6E"/>
                </a:solidFill>
                <a:latin typeface="Arial"/>
              </a:rPr>
              <a:t>Source: live_ae_events (CETAS snapshot) · DirectQuery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 'Latest Event Time' card — proves data is live, not a stale historical snapshot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32257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 Disposition RAG breakdown: Discharged (blue) · Admitted (green) · Left Before Treatment (red)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27249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 'Left Before Treatment' highlighted red — a genuine patient safety signal worth catching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1272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 Recent events table — raw rows sorted newest-first, most recent at 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352958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 Events Over Time line chart — volume trend showing burst pattern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3931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 Attendance Type pie chart — Type 1 / 2 / Other mix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3342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25C6E"/>
                </a:solidFill>
                <a:latin typeface="Arial"/>
              </a:rPr>
              <a:t>•  Slicers: org_name and disposition — filter whole page to one hospital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NHS A&amp;E Data Engineering Platform  |  Nandamuri Yamini  | 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Project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8EBF5"/>
                </a:solidFill>
                <a:latin typeface="Arial"/>
              </a:rPr>
              <a:t>Delivered, tested and 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5577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70432"/>
            <a:ext cx="54864" cy="713232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4358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✓  Automated Azure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5C6E"/>
                </a:solidFill>
                <a:latin typeface="Arial"/>
              </a:rPr>
              <a:t>Both Batch and Streaming pipelines run end-to-end with one click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170432"/>
            <a:ext cx="5577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170432"/>
            <a:ext cx="54864" cy="713232"/>
          </a:xfrm>
          <a:prstGeom prst="rect">
            <a:avLst/>
          </a:prstGeom>
          <a:solidFill>
            <a:srgbClr val="009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24358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✓  Medallion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5544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5C6E"/>
                </a:solidFill>
                <a:latin typeface="Arial"/>
              </a:rPr>
              <a:t>Bronze → Silver → Gold across 6 NHS datasets + 1 streaming 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011680"/>
            <a:ext cx="5577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11680"/>
            <a:ext cx="54864" cy="713232"/>
          </a:xfrm>
          <a:prstGeom prst="rect">
            <a:avLst/>
          </a:prstGeom>
          <a:solidFill>
            <a:srgbClr val="007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0848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✓  Unity Catalog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3957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5C6E"/>
                </a:solidFill>
                <a:latin typeface="Arial"/>
              </a:rPr>
              <a:t>14 managed tables in yamini_bronze / yamini_silver schemas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2011680"/>
            <a:ext cx="5577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2011680"/>
            <a:ext cx="54864" cy="713232"/>
          </a:xfrm>
          <a:prstGeom prst="rect">
            <a:avLst/>
          </a:prstGeom>
          <a:solidFill>
            <a:srgbClr val="460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0848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✓  8-Table Gold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3957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5C6E"/>
                </a:solidFill>
                <a:latin typeface="Arial"/>
              </a:rPr>
              <a:t>Real SUM/AVG/RANK/LAG aggregations — genuine business 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52928"/>
            <a:ext cx="5577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852928"/>
            <a:ext cx="54864" cy="713232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926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✓  Failure Alert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23697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5C6E"/>
                </a:solidFill>
                <a:latin typeface="Arial"/>
              </a:rPr>
              <a:t>Logic App emails on any pipeline failure via Key Vault + SMTP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2852928"/>
            <a:ext cx="5577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072" y="2852928"/>
            <a:ext cx="54864" cy="71323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2926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✓  Two Power BI Dashboards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323697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5C6E"/>
                </a:solidFill>
                <a:latin typeface="Arial"/>
              </a:rPr>
              <a:t>NHS-branded · DirectQuery · Batch (2 pages) + Streaming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694176"/>
            <a:ext cx="5577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3694176"/>
            <a:ext cx="54864" cy="713232"/>
          </a:xfrm>
          <a:prstGeom prst="rect">
            <a:avLst/>
          </a:prstGeom>
          <a:solidFill>
            <a:srgbClr val="8B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7673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✓  External Tables in ADF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0782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5C6E"/>
                </a:solidFill>
                <a:latin typeface="Arial"/>
              </a:rPr>
              <a:t>Script activity runs CETAS rebuild for all 8 Gold tables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91072" y="3694176"/>
            <a:ext cx="5577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AE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1072" y="3694176"/>
            <a:ext cx="54864" cy="713232"/>
          </a:xfrm>
          <a:prstGeom prst="rect">
            <a:avLst/>
          </a:prstGeom>
          <a:solidFill>
            <a:srgbClr val="2A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37673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087"/>
                </a:solidFill>
                <a:latin typeface="Arial"/>
              </a:rPr>
              <a:t>✓  Key Vault Security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40782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5C6E"/>
                </a:solidFill>
                <a:latin typeface="Arial"/>
              </a:rPr>
              <a:t>Zero hardcoded credentials — all secrets fetched at runtime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NHS A&amp;E Data Engineering Platform  |  Nandamuri Yamini  | 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8EBF5"/>
                </a:solidFill>
                <a:latin typeface="Arial"/>
              </a:rPr>
              <a:t>NHS A&amp;E Data Engineering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8EBF5"/>
                </a:solidFill>
                <a:latin typeface="Arial"/>
              </a:rPr>
              <a:t>Nandamuri Yamini  ·  nandamuri.yamini@informationtechconsultants.co.uk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087"/>
                </a:solidFill>
                <a:latin typeface="Arial"/>
              </a:rPr>
              <a:t>Questions welcome on any aspect of this project: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5C6E"/>
                </a:solidFill>
                <a:latin typeface="Arial"/>
              </a:rPr>
              <a:t>•  Architecture decisions — why Databricks for Bronze/Silver, why Synapse for Gold?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537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5C6E"/>
                </a:solidFill>
                <a:latin typeface="Arial"/>
              </a:rPr>
              <a:t>•  Engineering challenges — how did you solve the ADF Delete container issue?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46903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5C6E"/>
                </a:solidFill>
                <a:latin typeface="Arial"/>
              </a:rPr>
              <a:t>•  Business findings — what does the A&amp;E performance data actually show?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0095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5C6E"/>
                </a:solidFill>
                <a:latin typeface="Arial"/>
              </a:rPr>
              <a:t>•  Senior requirements — how was Unity Catalog, Key Vault and Logic App implemented?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83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NHS A&amp;E Data Engineering Platform  |  Nandamuri Yamini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