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This project demonstrates a full enterprise-grade Azure data platform built on real NHS England A&amp;E statistics. Covers 3 years of data, 215 trusts, both batch and streaming pipelines, and all 6 senior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slide — 10 sections covering the full project from architecture through to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context for why this technical project matters. Always lead with the business problem before showing any architecture. The NHS 95% target, 26.7% breach rate, and rising 12hr waits are the real-world stakes behind every architecture decision we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parallel pipelines sharing the same medallion architecture. Batch processes historical NHS CSV files monthly. Streaming processes live simulated A&amp;E events in near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Medallion architecture is the core data design pattern. Bronze = safe copy. Silver = clean copy. Gold = ready-to-use aggregations for business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batch pipeline is fully automated. Key design decision: Clear_Gold_Container is a Databricks notebook, NOT an ADF Delete activity — the Delete activity deleted the container itself when pointed at the root (happened twice).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critical engineering decisions: Kafka unavailable on Basic tier (used Python SDK instead), and trigger(availableNow=True) makes the Silver notebook bounded so ADF can call it repeatedly.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 layer has 8 tables — all with genuine aggregation using SUM, AVG, RANK, LAG window functions. Redesigned from original passthrough tables after senior feedback that there was no real aggregation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services — none redundant. ADF = when. Databricks = how. Synapse = SQL reporting. ADLS = where. Event Hub = live ingestion. Key Vault = credentials. Logic Apps = alerting.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real problems encountered during the actual build. The ADF Delete/container deletion issue was the most costly — it happened twice before the root cause was identified.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dashboards for two audiences. Batch = planners, commissioners, management. Streaming = operational staff who need real-time visibility during a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item built, tested and confirmed working — not just documented as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questions: Why not Kafka? Basic tier limitation. How handle suppression markers? TRY_CAST/IFERROR pattern. Why Databricks for Gold clearing? ADF Delete deleted the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NHS A&amp;E Data Engineering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EBF5"/>
                </a:solidFill>
                <a:latin typeface="Arial"/>
              </a:rPr>
              <a:t>End-to-End Azure Data Platform  ·  Batch &amp; Streaming  ·  Apr 2023 – Mar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8EBF5"/>
                </a:solidFill>
                <a:latin typeface="Arial"/>
              </a:rPr>
              <a:t>Azure Data Factory  ·  Databricks  ·  Synapse  ·  Event Hub  ·  Key Vault  ·  Power BI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2560320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246120"/>
            <a:ext cx="23408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33M
A&amp;E Attendances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200400"/>
            <a:ext cx="2560320" cy="118872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3246120"/>
            <a:ext cx="23408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215
Trusts Tracked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560320" cy="1188720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3246120"/>
            <a:ext cx="23408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8
Gold 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560320" cy="1188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3246120"/>
            <a:ext cx="234086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2
Live Dashboards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5C6E"/>
                </a:solidFill>
                <a:latin typeface="Arial"/>
              </a:rPr>
              <a:t>Nandamuri Yamini  |  Azure Data Engineering Training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29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Technology: Azure Data Factory · ADLS Gen2 · Databricks · Synapse Analytics · Power BI · Event Hubs · Key Vault · Logic Apps · Unity Catalog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What this presentation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4864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801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1170432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1170432"/>
            <a:ext cx="4572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225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Business Problem &amp;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225296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Why this project exists — the NHS A&amp;E performance crisis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00784"/>
            <a:ext cx="54864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181051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00784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" y="1700784"/>
            <a:ext cx="4572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17556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Solution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1755648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End-to-end batch and streaming data platform overview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231136"/>
            <a:ext cx="54864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3408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" y="2231136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" y="2231136"/>
            <a:ext cx="4572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22860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Medallion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286000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Bronze → Silver → Gold — three layers, one clear purpose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761488"/>
            <a:ext cx="54864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871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" y="2761488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6112" y="2761488"/>
            <a:ext cx="4572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28163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Batch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2816352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How historical NHS A&amp;E data flows from CSV to dashboard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291840"/>
            <a:ext cx="54864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34015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6112" y="3291840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" y="3291840"/>
            <a:ext cx="4572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33467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Streaming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34670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How live A&amp;E events are captured and processed in near real-time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822191"/>
            <a:ext cx="54864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39319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6112" y="3822191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" y="3822191"/>
            <a:ext cx="4572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387705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Gold Layer — 8 Tables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3877055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Business-ready aggregated tables built in Synapse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352544"/>
            <a:ext cx="54864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44622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2" y="4352544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2" y="4352544"/>
            <a:ext cx="4572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" y="440740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Azure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4407407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Seven services used — each with a specific, non-overlapping role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4882896"/>
            <a:ext cx="54864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9926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" y="4882896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6112" y="4882896"/>
            <a:ext cx="4572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3775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Engineering Challenges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34840" y="4937759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Real problems hit during the build and how they were fixed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413248"/>
            <a:ext cx="54864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52297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" y="5413248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6112" y="5413248"/>
            <a:ext cx="45720" cy="47548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1560" y="546811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Power BI Dashboards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5468112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Batch (historical insight) and Streaming (live monitoring)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943600"/>
            <a:ext cx="54864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605332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6112" y="5943600"/>
            <a:ext cx="1096365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6112" y="5943600"/>
            <a:ext cx="45720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" y="59984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Project Outcomes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4840" y="5998464"/>
            <a:ext cx="7223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What was delivered, tested and confirmed working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Business Problem &amp;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Why this project exists — the NHS A&amp;E performance crisis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3949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5394960" cy="38404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161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64208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Arial"/>
              </a:rPr>
              <a:t>✗  95% Target Never 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02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The NHS has a legal commitment that 95% of A&amp;E patients are seen within 4 hours. This target has not been met nationally in over 3 years — not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377440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Arial"/>
              </a:rPr>
              <a:t>✗  1 in 4 Patients Waiting Too Long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633472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26.7% of patients — more than 1 in 4 — wait longer than the promised 4 hours. The NHS target is 5%. We are 5x over that threshold.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090672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Arial"/>
              </a:rPr>
              <a:t>✗  12-Hour Waits Rising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34670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While the 4-hour breach rate stays flat, the number of patients waiting 12+ hours is actively climbing — nearly 80,000 in a single month by early 2026.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803904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Arial"/>
              </a:rPr>
              <a:t>✗  No Visibility Across 215 Trusts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059936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NHS England needed a way to compare all 215 hospital trusts simultaneously, identify the worst performers, and track whether improvement is happening anywhere.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517136"/>
            <a:ext cx="5074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Arial"/>
              </a:rPr>
              <a:t>✗  No Live Operational Alerting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73168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Traditional monthly reports mean problems are discovered weeks after they happen. A patient leaving A&amp;E before being seen is a safety signal — but only if caught the same 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1072" y="1170432"/>
            <a:ext cx="55778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91072" y="1170432"/>
            <a:ext cx="5577840" cy="384048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12161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THE SOLUTION — THIS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664208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639"/>
                </a:solidFill>
                <a:latin typeface="Arial"/>
              </a:rPr>
              <a:t>✓  3 Years of Real NHS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9202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33 million attendance records across 215 trusts, April 2023 – March 2026. Real data, not sample data — every NHS England report in this period.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37744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639"/>
                </a:solidFill>
                <a:latin typeface="Arial"/>
              </a:rPr>
              <a:t>✓  Automated Data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63347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ADF orchestrates Bronze → Silver → Gold automatically. Refreshing the entire dataset takes one click — not a day of manual SQL and spreadsheet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09067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639"/>
                </a:solidFill>
                <a:latin typeface="Arial"/>
              </a:rPr>
              <a:t>✓  Trust-by-Trust RAG Ranking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34670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Every trust ranked by 4-hour performance with RAG colouring (Red/Amber/Green). The 10 worst performers identified clearly — not buried in a table of 215 rows.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803904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639"/>
                </a:solidFill>
                <a:latin typeface="Arial"/>
              </a:rPr>
              <a:t>✓  Regional &amp; Demographic 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05993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Which regions are under most pressure? Who is actually using A&amp;E (working-age adults, not just the elderly)? Both questions answered in one dashboard.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517136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9639"/>
                </a:solidFill>
                <a:latin typeface="Arial"/>
              </a:rPr>
              <a:t>✓  Live Streaming Dashboard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77316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Near real-time A&amp;E event monitoring — dispositions, attendance types, and safety signals (patients leaving before treatment) visible as they happen, not next month.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Two parallel pipelines — batch for history, streaming for live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EB8"/>
                </a:solidFill>
                <a:latin typeface="Arial"/>
              </a:rPr>
              <a:t>BATCH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1711452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NHS CSV
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524" y="1463040"/>
            <a:ext cx="1711452" cy="56692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0676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ADF
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5008" y="1463040"/>
            <a:ext cx="1711452" cy="566928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8160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Bronze
Databricks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492" y="1463040"/>
            <a:ext cx="1711452" cy="566928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5644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Silver
Databricks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9976" y="1463040"/>
            <a:ext cx="1711452" cy="566928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3128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Gold
Synapse SQL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57460" y="1463040"/>
            <a:ext cx="1711452" cy="5669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0612" y="153619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Power BI
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1492" y="160934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8976" y="160934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6460" y="160934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3944" y="160934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1428" y="160934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26060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81C"/>
                </a:solidFill>
                <a:latin typeface="Arial"/>
              </a:rPr>
              <a:t>STREAMING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880360"/>
            <a:ext cx="1711452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Event
Producer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7524" y="2880360"/>
            <a:ext cx="1711452" cy="56692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60676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Azure
Event Hub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55008" y="2880360"/>
            <a:ext cx="1711452" cy="566928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28160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Bronze
Databricks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2492" y="2880360"/>
            <a:ext cx="1711452" cy="566928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5644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Silver
Databricks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9976" y="2880360"/>
            <a:ext cx="1711452" cy="566928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63128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Gold
Synapse SQL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57460" y="2880360"/>
            <a:ext cx="1711452" cy="5669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0612" y="2953512"/>
            <a:ext cx="1565148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Live BI
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1492" y="302666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8976" y="302666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66460" y="302666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3944" y="302666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1428" y="3026664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794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25C6E"/>
                </a:solidFill>
                <a:latin typeface="Arial"/>
              </a:rPr>
              <a:t>SUPPORTING SERVICES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069080"/>
            <a:ext cx="2104948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142232"/>
            <a:ext cx="19586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ADLS Gen2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81020" y="4069080"/>
            <a:ext cx="2104948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54172" y="4142232"/>
            <a:ext cx="19586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Key Vault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2001" y="4069080"/>
            <a:ext cx="2104948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15153" y="4142232"/>
            <a:ext cx="19586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Unity Catalog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2982" y="4069080"/>
            <a:ext cx="2104948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76134" y="4142232"/>
            <a:ext cx="19586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Logic App Alerts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63963" y="4069080"/>
            <a:ext cx="2104948" cy="47548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37115" y="4142232"/>
            <a:ext cx="19586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ADF Linked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4988" y="4169663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85969" y="4169663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46950" y="4169663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7931" y="4169663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Medallion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Three layers — each with one clear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3794760" cy="5029200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2984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BRONZE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691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Raw Data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Copy of source files — untouched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7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Delta format in ADLS Gen2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Tracking: _source_file, _ingested_at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39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Original NHS column headers preserved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5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Unity Catalog: yamini_bronze 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7" y="34290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3127" y="1188720"/>
            <a:ext cx="3794760" cy="5029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19" y="12984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19" y="1691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Cleansed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7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Column names → snake_case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46887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report_date → real DATE type (TRY_CAST)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7" y="28346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Duplicate rows removed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7" y="320039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NHS suppression markers handled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7" y="356615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Unity Catalog: yamini_silver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42900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86215" y="1188720"/>
            <a:ext cx="3794760" cy="5029200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50807" y="12984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GOLD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50807" y="16916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Business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4815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8 aggregated tables with real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4815" y="246887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SUM, AVG, RANK, LAG window functions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14815" y="283463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CETAS external tables in Synapse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14815" y="320039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Rebuilt by ADF Script activity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14815" y="3566159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•  Feeds Power BI DirectQuery dashboards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Batch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Automated end-to-end — one click refreshes Bronze through Gold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240280" cy="4572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1. Source (6 datasets)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59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monthly_ae_summary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ae_by_provider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nel_ytd_growth_rates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ecds_activity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59" y="292607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ecds_performance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" y="320039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ecds_supplementary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1234440"/>
            <a:ext cx="2240280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2. ADF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Run_Bronze_Ingestion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Run_Silver_Transformation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Clear_Gold_Tables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Gold_Tables Script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85816" y="1234440"/>
            <a:ext cx="2240280" cy="457200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7256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3. Bronze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Delta format write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1536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Column mapping: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1536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Unity Catalog registered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31536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yamini_bronze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18704" y="1234440"/>
            <a:ext cx="2240280" cy="457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0144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4. Silver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4424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Standardise columns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4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Fix date types (TRY_CAST)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4424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Remove duplicates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64424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yamini_silver schema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51592" y="1234440"/>
            <a:ext cx="2240280" cy="457200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3032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5. Gold (8 tables)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97312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RANK, LAG, SUM, AVG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7312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CETAS external 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97312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Rebuilt by ADF Script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97312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Synapse gold_db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297680"/>
            <a:ext cx="115488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429768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3708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⚠  Failure Notification Path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64515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Any activity fails  →  Get_Webhook_URL (Key Vault REST API, Managed Identity)  →  Notify_Failure (POST to Logic App)  →  Email via SMTP Rackspace  →  Inbox alert with pipeline name, run ID and error message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5394960"/>
            <a:ext cx="11548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B81C"/>
                </a:solidFill>
                <a:latin typeface="Arial"/>
              </a:rPr>
              <a:t>Note: Clear_Gold_Tables uses a Databricks notebook (dbutils.fs.rm per named folder) — NOT an ADF Delete activity, which deleted the whole container when pointed at the root.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Streaming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Near real-time A&amp;E event processing via Azure Event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240280" cy="4572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1. Producer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59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ae_event_producer.py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Synthetic A&amp;E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Random trust/age/outcome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Runs on local laptop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1234440"/>
            <a:ext cx="2240280" cy="457200"/>
          </a:xfrm>
          <a:prstGeom prst="rect">
            <a:avLst/>
          </a:prstGeom>
          <a:solidFill>
            <a:srgbClr val="007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4368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2. Event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Basic tier namespace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ae-events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Consumer group: $Default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Connection string in KV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85816" y="1234440"/>
            <a:ext cx="2240280" cy="457200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7256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3. Bronze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1536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azure-eventhub Python SDK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1536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6 × 20 sec polling cycles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Appends to Bronze Delta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31536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yamini_bronze schema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44384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18704" y="1234440"/>
            <a:ext cx="2240280" cy="457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0144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4. Silver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4424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Spark Structured Streaming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4424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to_timestamp(arrival_time)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4424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dropDuplicates(event_id)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4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trigger(availableNow=True)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7272" y="1325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5EB8"/>
                </a:solidFill>
                <a:latin typeface="Arial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451592" y="1234440"/>
            <a:ext cx="2240280" cy="457200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43032" y="1298448"/>
            <a:ext cx="2057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5. Gold + BI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97312" y="182880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live_ae_events (CETAS)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97312" y="2103120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Snapshot — manual refresh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97312" y="237743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Live Power BI dashboard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97312" y="2651759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Disposition RAG colours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297680"/>
            <a:ext cx="55778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4297680"/>
            <a:ext cx="54864" cy="128016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3708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Why not Kafka?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45152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Event Hub Basic tier does NOT support Kafka protocol — a hard pricing-tier limitation. Workaround: azure-eventhub Python SDK with manual 6×20s polling bursts instead of a native streaming connector.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91072" y="4297680"/>
            <a:ext cx="55778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91072" y="4297680"/>
            <a:ext cx="54864" cy="128016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43708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639"/>
                </a:solidFill>
                <a:latin typeface="Arial"/>
              </a:rPr>
              <a:t>trigger(availableNow=True)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4645152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Without this, Spark Structured Streaming runs forever — meaning ADF would stack up infinite background jobs each time it triggered the pipeline. This setting makes Silver a bounded, safe-to-reschedule job.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Gold Layer — 8 Business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Redesigned from scratch: real aggregations that answer real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577840" cy="62179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252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national_monthly_trend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99616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National monthly totals — SUM all attendance types by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65376"/>
            <a:ext cx="5577840" cy="62179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national_yearly_trend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Year-over-year view + pct_over4hrs breach ratio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560320"/>
            <a:ext cx="5577840" cy="621792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1518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trust_performance_ranking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89503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RANK() per period + LAG() period-over-period change per trust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255263"/>
            <a:ext cx="5577840" cy="621792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regional_summary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8444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SUM/AVG/COUNT by NHS region — identifies where pressure is highest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1170432"/>
            <a:ext cx="5577840" cy="621792"/>
          </a:xfrm>
          <a:prstGeom prst="rect">
            <a:avLst/>
          </a:prstGeom>
          <a:solidFill>
            <a:srgbClr val="007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122529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nel_ytd_growth_rates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1499616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Non-elective growth vs regional benchmark (AVG OVER PARTITION)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1865376"/>
            <a:ext cx="5577840" cy="6217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ecds_demographic_summary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19456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Age / gender / ethnicity / frailty / chief complaint — consolidated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072" y="2560320"/>
            <a:ext cx="5577840" cy="621792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261518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ecds_org_summary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2889503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Per-organisation totals across all available reporting periods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3255263"/>
            <a:ext cx="5577840" cy="621792"/>
          </a:xfrm>
          <a:prstGeom prst="rect">
            <a:avLst/>
          </a:prstGeom>
          <a:solidFill>
            <a:srgbClr val="2A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31012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ecds_performance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584447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8EBF5"/>
                </a:solidFill>
                <a:latin typeface="Arial"/>
              </a:rPr>
              <a:t>AVG / MIN / MAX per metric — shows spread across organisations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080760"/>
            <a:ext cx="11548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25C6E"/>
                </a:solidFill>
                <a:latin typeface="Arial"/>
              </a:rPr>
              <a:t>All tables are CETAS (CREATE EXTERNAL TABLE AS SELECT) in Synapse Serverless SQL, rebuilt automatically on every pipeline run by ADF's Script activity.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Azure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Seven services — each with a specific, non-overlapping 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54864" cy="62179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25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Azure Data Factory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225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yamini-project-adf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22529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Orchestrates the full pipeline — triggers Databricks notebooks and Synapse Script activity in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65376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865376"/>
            <a:ext cx="54864" cy="621792"/>
          </a:xfrm>
          <a:prstGeom prst="rect">
            <a:avLst/>
          </a:prstGeom>
          <a:solidFill>
            <a:srgbClr val="007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92024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ADLS Gen2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202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yaminiprojectadls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9202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Storage for all layers — raw/, bronze/, silver/, gold/ containers with Delta/Parquet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560320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560320"/>
            <a:ext cx="54864" cy="621792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1518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Databricks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6151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adb-training-bd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1518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Processing engine — Bronze ingestion, Silver cleaning and Gold container clearing notebooks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55263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255263"/>
            <a:ext cx="54864" cy="621792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31012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Synapse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3101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syn-bd-training-uk (Serverless SQL, gold_db)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310127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Gold layer — 8 CETAS external tables queried by Power BI via DirectQuery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950207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3950207"/>
            <a:ext cx="54864" cy="621792"/>
          </a:xfrm>
          <a:prstGeom prst="rect">
            <a:avLst/>
          </a:prstGeom>
          <a:solidFill>
            <a:srgbClr val="2A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05071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Azure Event Hubs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00507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ae-events hub (Basic tier)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005071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Streaming message broker — receives synthetic A&amp;E events from the producer script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645151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645151"/>
            <a:ext cx="54864" cy="6217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700015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Key Vault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4700015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kv-bd-training-uk (shared training vault)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700015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Secrets — storage key, Event Hub connection string, Logic App webhook URL. Zero hardcoded credentials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340095"/>
            <a:ext cx="11548872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5340095"/>
            <a:ext cx="54864" cy="62179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394959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Logic Apps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539495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la-nhs-pipeline-alerts (Consumption plan)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394959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Failure alerting — HTTP trigger receives pipeline details, sends email via SMTP/Rackspace connector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Engineering Challenges 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Real problems encountered during the build — and how they were fixed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2618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Excel Date Corruption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5727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NHS CSVs re-saved in Excel reformatted dates silently — 'October 2025' became '10-01-25', breaking Synapse parsing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" y="263347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7249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980944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Regenerated CSVs directly from original Excel workbooks using Python — never open source files in Excel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117043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17043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2618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NHS Suppression Markers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5727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Columns containing '-' or '*' (patient privacy) were inferred as VARCHAR — SUM/AVG failed with type errors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71416" y="263347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80944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TRY_CAST(column AS FLOAT) in Synapse SQL · IFERROR(VALUE(), 0) DAX pattern in Power BI measures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03336" y="117043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03336" y="117043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12618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ADF Delete Removed Container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157276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ADF Delete activity with Recursive on container root deleted the ENTIRE gold container — happened twice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13063" y="263347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3" y="27249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13063" y="2980944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Replaced with Databricks notebook: dbutils.fs.rm() on specific named subfolders only, never the root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7647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77647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" y="38679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GO Syntax Unsupported in ADF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" y="417880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ADF Script activity sends SQL directly to the engine — GO is a client-tool separator, not real T-SQL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9768" y="523951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8" y="5330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5586983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Split into 9 separate query blocks (1 DROP block + 8 individual CREATE EXTERNAL TABLE statements)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77647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61688" y="377647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38679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Event Hub Basic = No Kafka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17880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Basic pricing tier does not support the Kafka protocol — a hard Azure limitation, not a misconfiguration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1416" y="523951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71416" y="5330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5586983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Used azure-eventhub Python SDK directly with 6×20 second manual polling bursts inside Databricks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03336" y="3776472"/>
            <a:ext cx="370332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03336" y="3776472"/>
            <a:ext cx="3703320" cy="54864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13063" y="38679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Arial"/>
              </a:rPr>
              <a:t>✗  Two Separate SAS Credentials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3063" y="4178808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25C6E"/>
                </a:solidFill>
                <a:latin typeface="Arial"/>
              </a:rPr>
              <a:t>StorageSAS and GoldStorageCredential in Synapse are SEPARATE objects — updating one didn't fix the other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13063" y="5239512"/>
            <a:ext cx="3474720" cy="36576"/>
          </a:xfrm>
          <a:prstGeom prst="rect">
            <a:avLst/>
          </a:prstGeom>
          <a:solidFill>
            <a:srgbClr val="AECA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13063" y="5330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39"/>
                </a:solidFill>
                <a:latin typeface="Arial"/>
              </a:rPr>
              <a:t>Solution: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13063" y="5586983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Arial"/>
              </a:rPr>
              <a:t>Must update both via ALTER DATABASE SCOPED CREDENTIAL with a fresh SAS token including Create+Write permissions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Power BI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Two dashboards — historical insight and live operational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5778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5577840" cy="41148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1615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BATCH DASHBOARD — Historical 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Source: Synapse gold_db · Connection: DirectQuery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5 KPI cards: 33M attendances, 215 trusts, 26.7% breach, avg trust improvement, 1M 12hr waits (red)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2257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Dual-line trend: % within 4hrs + 12hr waits climbing — shows worsening long waits clearly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24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Trust Bottom 10 RAG chart — all red, all below 70% target, proper NHS RAG colours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272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Regional Volume vs Performance — dual-axis showing pressure by geography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958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Demographic breakdown (age / gender / ethnicity) — interactive slicer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Trust Biggest Improvers — shows who is actually making progress period-over-period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342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Date slicer — filters all visuals to any time window interactively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1170432"/>
            <a:ext cx="55778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1170432"/>
            <a:ext cx="5577840" cy="411480"/>
          </a:xfrm>
          <a:prstGeom prst="rect">
            <a:avLst/>
          </a:prstGeom>
          <a:solidFill>
            <a:srgbClr val="007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121615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STREAMING DASHBOARD — Live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1627632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25C6E"/>
                </a:solidFill>
                <a:latin typeface="Arial"/>
              </a:rPr>
              <a:t>Source: live_ae_events (CETAS snapshot) · DirectQuery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19202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'Latest Event Time' card — proves data is live, not a stale historical snapshot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232257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Disposition RAG breakdown: Discharged (blue) · Admitted (green) · Left Before Treatment (red)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724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'Left Before Treatment' highlighted red — a genuine patient safety signal worth catching live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1272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Recent events table — raw rows sorted newest-first, most recent at top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52958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Events Over Time line chart — volume trend showing burst pattern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931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Attendance Type pie chart — Type 1 / 2 / Other mix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33425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25C6E"/>
                </a:solidFill>
                <a:latin typeface="Arial"/>
              </a:rPr>
              <a:t>•  Slicers: org_name and disposition — filter whole page to one hospital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Project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1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8EBF5"/>
                </a:solidFill>
                <a:latin typeface="Arial"/>
              </a:rPr>
              <a:t>Delivered, tested and 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88952" cy="3657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70432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70432"/>
            <a:ext cx="54864" cy="713232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Automated Azure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Both Batch and Streaming pipelines run end-to-end with one click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170432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1170432"/>
            <a:ext cx="54864" cy="713232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24358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Medallion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5544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Bronze → Silver → Gold across 6 NHS datasets + 1 streaming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11680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11680"/>
            <a:ext cx="54864" cy="713232"/>
          </a:xfrm>
          <a:prstGeom prst="rect">
            <a:avLst/>
          </a:prstGeom>
          <a:solidFill>
            <a:srgbClr val="007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0848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Unity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14 managed tables in yamini_bronze / yamini_silver schemas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2011680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91072" y="2011680"/>
            <a:ext cx="54864" cy="713232"/>
          </a:xfrm>
          <a:prstGeom prst="rect">
            <a:avLst/>
          </a:prstGeom>
          <a:solidFill>
            <a:srgbClr val="460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0848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8-Table Gold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23957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Real SUM/AVG/RANK/LAG aggregations — genuine business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52928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852928"/>
            <a:ext cx="54864" cy="713232"/>
          </a:xfrm>
          <a:prstGeom prst="rect">
            <a:avLst/>
          </a:prstGeom>
          <a:solidFill>
            <a:srgbClr val="FF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Failure Alert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3697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Logic App emails on any pipeline failure via Key Vault + SMTP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2852928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2852928"/>
            <a:ext cx="54864" cy="71323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926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Two Power BI Dashboards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23697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NHS-branded · DirectQuery · Batch (2 pages) + Streaming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694176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694176"/>
            <a:ext cx="54864" cy="713232"/>
          </a:xfrm>
          <a:prstGeom prst="rect">
            <a:avLst/>
          </a:prstGeom>
          <a:solidFill>
            <a:srgbClr val="8B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External Tables in ADF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407822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Script activity runs CETAS rebuild for all 8 Gold tables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3694176"/>
            <a:ext cx="55778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ECA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694176"/>
            <a:ext cx="54864" cy="713232"/>
          </a:xfrm>
          <a:prstGeom prst="rect">
            <a:avLst/>
          </a:prstGeom>
          <a:solidFill>
            <a:srgbClr val="2A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3767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Arial"/>
              </a:rPr>
              <a:t>✓  Key Vault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3952" y="407822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25C6E"/>
                </a:solidFill>
                <a:latin typeface="Arial"/>
              </a:rPr>
              <a:t>Zero hardcoded credentials — all secrets fetched at runtime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8EBF5"/>
                </a:solidFill>
                <a:latin typeface="Arial"/>
              </a:rPr>
              <a:t>NHS A&amp;E Data Engineering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8EBF5"/>
                </a:solidFill>
                <a:latin typeface="Arial"/>
              </a:rPr>
              <a:t>Nandamuri Yamini  ·  nandamuri.yamini@informationtechconsultants.co.uk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087"/>
                </a:solidFill>
                <a:latin typeface="Arial"/>
              </a:rPr>
              <a:t>Questions welcome on any aspect of this project: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5C6E"/>
                </a:solidFill>
                <a:latin typeface="Arial"/>
              </a:rPr>
              <a:t>•  Architecture decisions — why Databricks for Bronze/Silver, why Synapse for Gold?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537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5C6E"/>
                </a:solidFill>
                <a:latin typeface="Arial"/>
              </a:rPr>
              <a:t>•  Engineering challenges — how did you solve the ADF Delete container issue?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46903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5C6E"/>
                </a:solidFill>
                <a:latin typeface="Arial"/>
              </a:rPr>
              <a:t>•  Business findings — what does the A&amp;E performance data actually show?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0095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5C6E"/>
                </a:solidFill>
                <a:latin typeface="Arial"/>
              </a:rPr>
              <a:t>•  Senior requirements — how was Unity Catalog, Key Vault and Logic App implemented?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8368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NHS A&amp;E Data Engineering Platform  |  Nandamuri Yamini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