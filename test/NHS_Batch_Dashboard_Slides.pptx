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before starting. Make eye contact before the first line - don't open by looking at the screen.</a:t>
            </a:r>
          </a:p>
          <a:p/>
          <a:p>
            <a:r>
              <a:t>Say: 'The NHS target is that 95% of A&amp;E patients are seen within 4 hours. For the last three years, we've been at 74%. Not for one bad month - for three straight years, stuck in the same 70-to-78% band, with no real improvement at any point.'</a:t>
            </a:r>
          </a:p>
          <a:p/>
          <a:p>
            <a:r>
              <a:t>Pause. Let that sit for a second before continuing.</a:t>
            </a:r>
          </a:p>
          <a:p/>
          <a:p>
            <a:r>
              <a:t>Say: 'That gap isn't just a statistic - it's longer waits, worse clinical outcomes, and the regulatory and reputational risk that falls on the trusts furthest behind. I'm going to walk you through three findings from this data, and what I think we should do about each one.'</a:t>
            </a:r>
          </a:p>
          <a:p/>
          <a:p>
            <a:r>
              <a:t>Delivery note: this opening line is the whole point of the talk. Don't rush it, and don't describe the dashboard yet - lead with the finding, not the tool.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briefly: 'Quickly, on how this is built - this isn't a one-off spreadsheet exercise. It's a proper pipeline: raw NHS data flows through Azure Data Factory, gets cleaned in Databricks, lands in a Synapse reporting layer, and Power BI queries that live, directly - no manual refresh, no copy-pasting numbers.'</a:t>
            </a:r>
          </a:p>
          <a:p/>
          <a:p>
            <a:r>
              <a:t>Delivery note: do NOT over-explain this slide. One or two sentences and move on. If someone asks a deeper technical question, you can come back to it - don't let this become the focus of the talk.</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'Looking at the trend over the last three years, performance oscillates between roughly 70% and 78% - it never gets close to the 95% target, and there's no consistent upward trajectory. Whatever interventions have been tried nationally over this period have not shifted the underlying number.'</a:t>
            </a:r>
          </a:p>
          <a:p/>
          <a:p>
            <a:r>
              <a:t>So what: 'This isn't a temporary dip to monitor - it's a sustained, structural performance gap that needs a different kind of intervention than wait and see.'</a:t>
            </a:r>
          </a:p>
          <a:p/>
          <a:p>
            <a:r>
              <a:t>Evidence on screen: the trend line chart, with the 95% target marked for reference. Point at the flat band, not at individual months.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'When the comparison is restricted to genuine acute hospitals - excluding small minor-injury units and walk-in clinics, which trivially hit 100% because they only see a handful of low-acuity patients a day - a real, meaningful spread emerges. Most major trusts sit in the amber zone, several percentage points below target but not in crisis. None are currently flagged red in this view, which is itself useful to know - but the more interesting finding is the opposite end: Mid Yorkshire Hospitals NHS Trust is the one trust in this comparison meeting the 95% target.'</a:t>
            </a:r>
          </a:p>
          <a:p/>
          <a:p>
            <a:r>
              <a:t>So what: 'Rather than only asking who needs the most help, it's worth asking what Mid Yorkshire is doing differently - staffing model, patient flow, discharge process - that the other major trusts aren't. That's a more actionable question than just funding the worst performers.'</a:t>
            </a:r>
          </a:p>
          <a:p/>
          <a:p>
            <a:r>
              <a:t>Evidence on screen: the trust comparison chart, RAG-coded, filtered to exclude small units for a fair comparison.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data shows attendances are heavily concentrated in the 25-44 and 45-64 age bands - not the elderly population that often dominates the public narrative around A&amp;E pressure. This has direct implications for staffing mix, triage design, and where public health messaging should be targeted.'</a:t>
            </a:r>
          </a:p>
          <a:p/>
          <a:p>
            <a:r>
              <a:t>Evidence on screen: the age demographic breakdown chart.</a:t>
            </a:r>
          </a:p>
          <a:p/>
          <a:p>
            <a:r>
              <a:t>Delivery note: this finding is a quieter one than 1 and 2 - keep it tight, don't oversell it. It's useful context, not a crisis finding.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'Based on this, I'd recommend three things, in priority order.'</a:t>
            </a:r>
          </a:p>
          <a:p/>
          <a:p>
            <a:r>
              <a:t>1. 'Study Mid Yorkshire first. It's the one trust meeting target in this view. Before spending anywhere else, I'd want to know what's structurally different about their staffing model or patient flow - that's the cheapest possible win, because it's already proven to work somewhere in the system.'</a:t>
            </a:r>
          </a:p>
          <a:p/>
          <a:p>
            <a:r>
              <a:t>2. 'Flag the amber trusts for active monitoring, not passive reporting. Three flat years tells us these trusts will not self-correct on their own. Waiting for next quarter's numbers to see if it improves has already been tried - for three years.'</a:t>
            </a:r>
          </a:p>
          <a:p/>
          <a:p>
            <a:r>
              <a:t>3. 'Adopt this as the standing monthly review tool. It's not a one-off slide deck - it sits on a pipeline that refreshes automatically. The conversation we're having today should be one we have every month, with current numbers, not a retrospective.'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Always end by asking for something concrete - don't just trail off after the recommendations.</a:t>
            </a:r>
          </a:p>
          <a:p/>
          <a:p>
            <a:r>
              <a:t>Say: 'What I'd like from this group is a decision on two things: first, sign-off to formally request Mid Yorkshire's operational data for a comparison study; and second, agreement that this dashboard becomes the standing monthly performance review, rather than something we revisit only when there's a problem.'</a:t>
            </a:r>
          </a:p>
          <a:p/>
          <a:p>
            <a:r>
              <a:t>Delivery note: stop talking after this. Let the room respond - don't fill the silence.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Only show this slide if asked - it's a backup slide, not part of the main flow.</a:t>
            </a:r>
          </a:p>
          <a:p/>
          <a:p>
            <a:r>
              <a:t>Say: 'One thing I'll flag proactively: clicking a specific trust doesn't yet re-filter the demographic breakdown chart - those two data sources come from different original NHS reports and don't share a common organisation code reference yet. That's scoped, known follow-up work, not a hidden gap - happy to take questions on the technical side if useful.'</a:t>
            </a:r>
          </a:p>
          <a:p/>
          <a:p>
            <a:r>
              <a:t>Delivery note: disclosing this proactively (even before being asked, if it feels natural) builds more credibility than waiting to be caught out. Own it confidently, don't apologise for it.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3087"/>
        </a:solidFill>
        <a:effectLst/>
      </p:bgPr>
    </p:bg>
    <p:spTree>
      <p:nvGrpSpPr>
        <p:cNvPr id="1" name=""/>
        <p:cNvGrpSpPr/>
        <p:nvPr/>
      </p:nvGrpSpPr>
      <p:grpSpPr/>
      <p:sp>
        <p:nvSpPr>
          <p:cNvPr id="2" name="Rectangle 1"/>
          <p:cNvSpPr/>
          <p:nvPr/>
        </p:nvSpPr>
        <p:spPr>
          <a:xfrm>
            <a:off x="0" y="2743200"/>
            <a:ext cx="12191695" cy="73152"/>
          </a:xfrm>
          <a:prstGeom prst="rect">
            <a:avLst/>
          </a:prstGeom>
          <a:solidFill>
            <a:srgbClr val="005E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011680"/>
            <a:ext cx="10698480" cy="1097280"/>
          </a:xfrm>
          <a:prstGeom prst="rect">
            <a:avLst/>
          </a:prstGeom>
          <a:noFill/>
        </p:spPr>
        <p:txBody>
          <a:bodyPr wrap="square">
            <a:spAutoFit/>
          </a:bodyPr>
          <a:lstStyle/>
          <a:p>
            <a:pPr algn="l"/>
            <a:r>
              <a:rPr sz="4000" b="1" i="0">
                <a:solidFill>
                  <a:srgbClr val="FFFFFF"/>
                </a:solidFill>
                <a:latin typeface="Calibri"/>
              </a:rPr>
              <a:t>NHS A&amp;E Performance Review</a:t>
            </a:r>
          </a:p>
        </p:txBody>
      </p:sp>
      <p:sp>
        <p:nvSpPr>
          <p:cNvPr id="4" name="TextBox 3"/>
          <p:cNvSpPr txBox="1"/>
          <p:nvPr/>
        </p:nvSpPr>
        <p:spPr>
          <a:xfrm>
            <a:off x="731520" y="2926080"/>
            <a:ext cx="10698480" cy="731520"/>
          </a:xfrm>
          <a:prstGeom prst="rect">
            <a:avLst/>
          </a:prstGeom>
          <a:noFill/>
        </p:spPr>
        <p:txBody>
          <a:bodyPr wrap="square">
            <a:spAutoFit/>
          </a:bodyPr>
          <a:lstStyle/>
          <a:p>
            <a:pPr algn="l"/>
            <a:r>
              <a:rPr sz="2000" b="0" i="0">
                <a:solidFill>
                  <a:srgbClr val="CCDDEE"/>
                </a:solidFill>
                <a:latin typeface="Calibri"/>
              </a:rPr>
              <a:t>Three-Year Trend Analysis  |  National &amp; Trust-Level Performance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731520" y="502920"/>
            <a:ext cx="109728" cy="457200"/>
          </a:xfrm>
          <a:prstGeom prst="rect">
            <a:avLst/>
          </a:prstGeom>
          <a:solidFill>
            <a:srgbClr val="005E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60120" y="411480"/>
            <a:ext cx="10058400" cy="640080"/>
          </a:xfrm>
          <a:prstGeom prst="rect">
            <a:avLst/>
          </a:prstGeom>
          <a:noFill/>
        </p:spPr>
        <p:txBody>
          <a:bodyPr wrap="square">
            <a:spAutoFit/>
          </a:bodyPr>
          <a:lstStyle/>
          <a:p>
            <a:pPr algn="l"/>
            <a:r>
              <a:rPr sz="2800" b="1" i="0">
                <a:solidFill>
                  <a:srgbClr val="003087"/>
                </a:solidFill>
                <a:latin typeface="Calibri"/>
              </a:rPr>
              <a:t>How This Was Built</a:t>
            </a:r>
          </a:p>
        </p:txBody>
      </p:sp>
      <p:sp>
        <p:nvSpPr>
          <p:cNvPr id="4" name="TextBox 3"/>
          <p:cNvSpPr txBox="1"/>
          <p:nvPr/>
        </p:nvSpPr>
        <p:spPr>
          <a:xfrm>
            <a:off x="960120" y="1371600"/>
            <a:ext cx="10241280" cy="4846320"/>
          </a:xfrm>
          <a:prstGeom prst="rect">
            <a:avLst/>
          </a:prstGeom>
          <a:noFill/>
        </p:spPr>
        <p:txBody>
          <a:bodyPr wrap="square">
            <a:spAutoFit/>
          </a:bodyPr>
          <a:lstStyle/>
          <a:p>
            <a:pPr>
              <a:lnSpc>
                <a:spcPct val="125000"/>
              </a:lnSpc>
              <a:spcAft>
                <a:spcPts val="1400"/>
              </a:spcAft>
            </a:pPr>
            <a:r>
              <a:rPr sz="2000">
                <a:solidFill>
                  <a:srgbClr val="333333"/>
                </a:solidFill>
                <a:latin typeface="Calibri"/>
              </a:rPr>
              <a:t>•  Source: NHS England published statistics (A&amp;E attendances, ECDS activity, performance reports)</a:t>
            </a:r>
          </a:p>
          <a:p>
            <a:pPr>
              <a:lnSpc>
                <a:spcPct val="125000"/>
              </a:lnSpc>
              <a:spcAft>
                <a:spcPts val="1400"/>
              </a:spcAft>
            </a:pPr>
            <a:r>
              <a:rPr sz="2000">
                <a:solidFill>
                  <a:srgbClr val="333333"/>
                </a:solidFill>
                <a:latin typeface="Calibri"/>
              </a:rPr>
              <a:t>•  Azure Data Factory orchestrates the pipeline end-to-end on a schedule</a:t>
            </a:r>
          </a:p>
          <a:p>
            <a:pPr>
              <a:lnSpc>
                <a:spcPct val="125000"/>
              </a:lnSpc>
              <a:spcAft>
                <a:spcPts val="1400"/>
              </a:spcAft>
            </a:pPr>
            <a:r>
              <a:rPr sz="2000">
                <a:solidFill>
                  <a:srgbClr val="333333"/>
                </a:solidFill>
                <a:latin typeface="Calibri"/>
              </a:rPr>
              <a:t>•  Databricks: Bronze (raw ingest) → Silver (cleaned, standardised) layers</a:t>
            </a:r>
          </a:p>
          <a:p>
            <a:pPr>
              <a:lnSpc>
                <a:spcPct val="125000"/>
              </a:lnSpc>
              <a:spcAft>
                <a:spcPts val="1400"/>
              </a:spcAft>
            </a:pPr>
            <a:r>
              <a:rPr sz="2000">
                <a:solidFill>
                  <a:srgbClr val="333333"/>
                </a:solidFill>
                <a:latin typeface="Calibri"/>
              </a:rPr>
              <a:t>•  Azure Synapse Serverless SQL: Gold layer - 11 reporting tables built via CETAS</a:t>
            </a:r>
          </a:p>
          <a:p>
            <a:pPr>
              <a:lnSpc>
                <a:spcPct val="125000"/>
              </a:lnSpc>
              <a:spcAft>
                <a:spcPts val="1400"/>
              </a:spcAft>
            </a:pPr>
            <a:r>
              <a:rPr sz="2000">
                <a:solidFill>
                  <a:srgbClr val="333333"/>
                </a:solidFill>
                <a:latin typeface="Calibri"/>
              </a:rPr>
              <a:t>•  Power BI: connects live via DirectQuery - no stale copies, always querying current Gold data</a:t>
            </a:r>
          </a:p>
        </p:txBody>
      </p:sp>
      <p:sp>
        <p:nvSpPr>
          <p:cNvPr id="5" name="TextBox 4"/>
          <p:cNvSpPr txBox="1"/>
          <p:nvPr/>
        </p:nvSpPr>
        <p:spPr>
          <a:xfrm>
            <a:off x="960120" y="6309360"/>
            <a:ext cx="10058400" cy="457200"/>
          </a:xfrm>
          <a:prstGeom prst="rect">
            <a:avLst/>
          </a:prstGeom>
          <a:noFill/>
        </p:spPr>
        <p:txBody>
          <a:bodyPr wrap="square">
            <a:spAutoFit/>
          </a:bodyPr>
          <a:lstStyle/>
          <a:p>
            <a:pPr algn="l"/>
            <a:r>
              <a:rPr sz="1300" b="0" i="1">
                <a:solidFill>
                  <a:srgbClr val="777777"/>
                </a:solidFill>
                <a:latin typeface="Calibri"/>
              </a:rPr>
              <a:t>Keep this slide brief - the audience cares about the findings, not the architecture. 30 seconds, max.</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731520" y="502920"/>
            <a:ext cx="109728" cy="457200"/>
          </a:xfrm>
          <a:prstGeom prst="rect">
            <a:avLst/>
          </a:prstGeom>
          <a:solidFill>
            <a:srgbClr val="005E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60120" y="411480"/>
            <a:ext cx="10058400" cy="640080"/>
          </a:xfrm>
          <a:prstGeom prst="rect">
            <a:avLst/>
          </a:prstGeom>
          <a:noFill/>
        </p:spPr>
        <p:txBody>
          <a:bodyPr wrap="square">
            <a:spAutoFit/>
          </a:bodyPr>
          <a:lstStyle/>
          <a:p>
            <a:pPr algn="l"/>
            <a:r>
              <a:rPr sz="2800" b="1" i="0">
                <a:solidFill>
                  <a:srgbClr val="003087"/>
                </a:solidFill>
                <a:latin typeface="Calibri"/>
              </a:rPr>
              <a:t>Finding 1 — We Are Not Improving</a:t>
            </a:r>
          </a:p>
        </p:txBody>
      </p:sp>
      <p:sp>
        <p:nvSpPr>
          <p:cNvPr id="4" name="TextBox 3"/>
          <p:cNvSpPr txBox="1"/>
          <p:nvPr/>
        </p:nvSpPr>
        <p:spPr>
          <a:xfrm>
            <a:off x="960120" y="1463040"/>
            <a:ext cx="4114800" cy="1463040"/>
          </a:xfrm>
          <a:prstGeom prst="rect">
            <a:avLst/>
          </a:prstGeom>
          <a:noFill/>
        </p:spPr>
        <p:txBody>
          <a:bodyPr wrap="square">
            <a:spAutoFit/>
          </a:bodyPr>
          <a:lstStyle/>
          <a:p>
            <a:pPr algn="l"/>
            <a:r>
              <a:rPr sz="6400" b="1" i="0">
                <a:solidFill>
                  <a:srgbClr val="DA291C"/>
                </a:solidFill>
                <a:latin typeface="Calibri"/>
              </a:rPr>
              <a:t>74%</a:t>
            </a:r>
          </a:p>
        </p:txBody>
      </p:sp>
      <p:sp>
        <p:nvSpPr>
          <p:cNvPr id="5" name="TextBox 4"/>
          <p:cNvSpPr txBox="1"/>
          <p:nvPr/>
        </p:nvSpPr>
        <p:spPr>
          <a:xfrm>
            <a:off x="960120" y="2880360"/>
            <a:ext cx="4114800" cy="548640"/>
          </a:xfrm>
          <a:prstGeom prst="rect">
            <a:avLst/>
          </a:prstGeom>
          <a:noFill/>
        </p:spPr>
        <p:txBody>
          <a:bodyPr wrap="square">
            <a:spAutoFit/>
          </a:bodyPr>
          <a:lstStyle/>
          <a:p>
            <a:pPr algn="l"/>
            <a:r>
              <a:rPr sz="1600" b="0" i="0">
                <a:solidFill>
                  <a:srgbClr val="333333"/>
                </a:solidFill>
                <a:latin typeface="Calibri"/>
              </a:rPr>
              <a:t>average 4-hour performance over 3 years, vs. 95% NHS target</a:t>
            </a:r>
          </a:p>
        </p:txBody>
      </p:sp>
      <p:sp>
        <p:nvSpPr>
          <p:cNvPr id="6" name="TextBox 5"/>
          <p:cNvSpPr txBox="1"/>
          <p:nvPr/>
        </p:nvSpPr>
        <p:spPr>
          <a:xfrm>
            <a:off x="5486400" y="1554480"/>
            <a:ext cx="5760720" cy="4572000"/>
          </a:xfrm>
          <a:prstGeom prst="rect">
            <a:avLst/>
          </a:prstGeom>
          <a:noFill/>
        </p:spPr>
        <p:txBody>
          <a:bodyPr wrap="square">
            <a:spAutoFit/>
          </a:bodyPr>
          <a:lstStyle/>
          <a:p>
            <a:pPr>
              <a:lnSpc>
                <a:spcPct val="125000"/>
              </a:lnSpc>
              <a:spcAft>
                <a:spcPts val="1400"/>
              </a:spcAft>
            </a:pPr>
            <a:r>
              <a:rPr sz="1800">
                <a:solidFill>
                  <a:srgbClr val="333333"/>
                </a:solidFill>
                <a:latin typeface="Calibri"/>
              </a:rPr>
              <a:t>•  Performance has oscillated between roughly 70% and 78% for three straight years</a:t>
            </a:r>
          </a:p>
          <a:p>
            <a:pPr>
              <a:lnSpc>
                <a:spcPct val="125000"/>
              </a:lnSpc>
              <a:spcAft>
                <a:spcPts val="1400"/>
              </a:spcAft>
            </a:pPr>
            <a:r>
              <a:rPr sz="1800">
                <a:solidFill>
                  <a:srgbClr val="333333"/>
                </a:solidFill>
                <a:latin typeface="Calibri"/>
              </a:rPr>
              <a:t>•  No consistent upward trajectory at any point in the period</a:t>
            </a:r>
          </a:p>
          <a:p>
            <a:pPr>
              <a:lnSpc>
                <a:spcPct val="125000"/>
              </a:lnSpc>
              <a:spcAft>
                <a:spcPts val="1400"/>
              </a:spcAft>
            </a:pPr>
            <a:r>
              <a:rPr sz="1800">
                <a:solidFill>
                  <a:srgbClr val="333333"/>
                </a:solidFill>
                <a:latin typeface="Calibri"/>
              </a:rPr>
              <a:t>•  Whatever interventions have been tried nationally have not shifted the underlying number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731520" y="502920"/>
            <a:ext cx="109728" cy="457200"/>
          </a:xfrm>
          <a:prstGeom prst="rect">
            <a:avLst/>
          </a:prstGeom>
          <a:solidFill>
            <a:srgbClr val="005E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60120" y="411480"/>
            <a:ext cx="10058400" cy="640080"/>
          </a:xfrm>
          <a:prstGeom prst="rect">
            <a:avLst/>
          </a:prstGeom>
          <a:noFill/>
        </p:spPr>
        <p:txBody>
          <a:bodyPr wrap="square">
            <a:spAutoFit/>
          </a:bodyPr>
          <a:lstStyle/>
          <a:p>
            <a:pPr algn="l"/>
            <a:r>
              <a:rPr sz="2800" b="1" i="0">
                <a:solidFill>
                  <a:srgbClr val="003087"/>
                </a:solidFill>
                <a:latin typeface="Calibri"/>
              </a:rPr>
              <a:t>Finding 2 — One Trust Is Already Hitting Target</a:t>
            </a:r>
          </a:p>
        </p:txBody>
      </p:sp>
      <p:sp>
        <p:nvSpPr>
          <p:cNvPr id="4" name="TextBox 3"/>
          <p:cNvSpPr txBox="1"/>
          <p:nvPr/>
        </p:nvSpPr>
        <p:spPr>
          <a:xfrm>
            <a:off x="960120" y="1371600"/>
            <a:ext cx="10241280" cy="4846320"/>
          </a:xfrm>
          <a:prstGeom prst="rect">
            <a:avLst/>
          </a:prstGeom>
          <a:noFill/>
        </p:spPr>
        <p:txBody>
          <a:bodyPr wrap="square">
            <a:spAutoFit/>
          </a:bodyPr>
          <a:lstStyle/>
          <a:p>
            <a:pPr>
              <a:lnSpc>
                <a:spcPct val="125000"/>
              </a:lnSpc>
              <a:spcAft>
                <a:spcPts val="1400"/>
              </a:spcAft>
            </a:pPr>
            <a:r>
              <a:rPr sz="2000">
                <a:solidFill>
                  <a:srgbClr val="333333"/>
                </a:solidFill>
                <a:latin typeface="Calibri"/>
              </a:rPr>
              <a:t>•  Comparison restricted to genuine acute hospitals - small minor-injury units excluded (they trivially hit 100% seeing only a handful of low-acuity patients a day)</a:t>
            </a:r>
          </a:p>
          <a:p>
            <a:pPr>
              <a:lnSpc>
                <a:spcPct val="125000"/>
              </a:lnSpc>
              <a:spcAft>
                <a:spcPts val="1400"/>
              </a:spcAft>
            </a:pPr>
            <a:r>
              <a:rPr sz="2000">
                <a:solidFill>
                  <a:srgbClr val="333333"/>
                </a:solidFill>
                <a:latin typeface="Calibri"/>
              </a:rPr>
              <a:t>•  Most major trusts sit in the amber zone - several points below target, but not in crisis</a:t>
            </a:r>
          </a:p>
          <a:p>
            <a:pPr>
              <a:lnSpc>
                <a:spcPct val="125000"/>
              </a:lnSpc>
              <a:spcAft>
                <a:spcPts val="1400"/>
              </a:spcAft>
            </a:pPr>
            <a:r>
              <a:rPr sz="2000">
                <a:solidFill>
                  <a:srgbClr val="333333"/>
                </a:solidFill>
                <a:latin typeface="Calibri"/>
              </a:rPr>
              <a:t>•  None currently flagged red in this view - itself a useful, reassuring data point</a:t>
            </a:r>
          </a:p>
          <a:p>
            <a:pPr>
              <a:lnSpc>
                <a:spcPct val="125000"/>
              </a:lnSpc>
              <a:spcAft>
                <a:spcPts val="1400"/>
              </a:spcAft>
            </a:pPr>
            <a:r>
              <a:rPr sz="2000">
                <a:solidFill>
                  <a:srgbClr val="333333"/>
                </a:solidFill>
                <a:latin typeface="Calibri"/>
              </a:rPr>
              <a:t>•  Mid Yorkshire Hospitals NHS Trust is the one trust in this comparison meeting the 95% target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731520" y="502920"/>
            <a:ext cx="109728" cy="457200"/>
          </a:xfrm>
          <a:prstGeom prst="rect">
            <a:avLst/>
          </a:prstGeom>
          <a:solidFill>
            <a:srgbClr val="005E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60120" y="411480"/>
            <a:ext cx="10058400" cy="640080"/>
          </a:xfrm>
          <a:prstGeom prst="rect">
            <a:avLst/>
          </a:prstGeom>
          <a:noFill/>
        </p:spPr>
        <p:txBody>
          <a:bodyPr wrap="square">
            <a:spAutoFit/>
          </a:bodyPr>
          <a:lstStyle/>
          <a:p>
            <a:pPr algn="l"/>
            <a:r>
              <a:rPr sz="2800" b="1" i="0">
                <a:solidFill>
                  <a:srgbClr val="003087"/>
                </a:solidFill>
                <a:latin typeface="Calibri"/>
              </a:rPr>
              <a:t>Finding 3 — Demand Is Concentrated in Working-Age Adults</a:t>
            </a:r>
          </a:p>
        </p:txBody>
      </p:sp>
      <p:sp>
        <p:nvSpPr>
          <p:cNvPr id="4" name="TextBox 3"/>
          <p:cNvSpPr txBox="1"/>
          <p:nvPr/>
        </p:nvSpPr>
        <p:spPr>
          <a:xfrm>
            <a:off x="960120" y="1371600"/>
            <a:ext cx="10241280" cy="4846320"/>
          </a:xfrm>
          <a:prstGeom prst="rect">
            <a:avLst/>
          </a:prstGeom>
          <a:noFill/>
        </p:spPr>
        <p:txBody>
          <a:bodyPr wrap="square">
            <a:spAutoFit/>
          </a:bodyPr>
          <a:lstStyle/>
          <a:p>
            <a:pPr>
              <a:lnSpc>
                <a:spcPct val="125000"/>
              </a:lnSpc>
              <a:spcAft>
                <a:spcPts val="1400"/>
              </a:spcAft>
            </a:pPr>
            <a:r>
              <a:rPr sz="2000">
                <a:solidFill>
                  <a:srgbClr val="333333"/>
                </a:solidFill>
                <a:latin typeface="Calibri"/>
              </a:rPr>
              <a:t>•  Attendances are heavily concentrated in the 25-44 and 45-64 age bands</a:t>
            </a:r>
          </a:p>
          <a:p>
            <a:pPr>
              <a:lnSpc>
                <a:spcPct val="125000"/>
              </a:lnSpc>
              <a:spcAft>
                <a:spcPts val="1400"/>
              </a:spcAft>
            </a:pPr>
            <a:r>
              <a:rPr sz="2000">
                <a:solidFill>
                  <a:srgbClr val="333333"/>
                </a:solidFill>
                <a:latin typeface="Calibri"/>
              </a:rPr>
              <a:t>•  This is NOT the elderly-dominated picture often assumed in the public narrative around A&amp;E pressure</a:t>
            </a:r>
          </a:p>
          <a:p>
            <a:pPr>
              <a:lnSpc>
                <a:spcPct val="125000"/>
              </a:lnSpc>
              <a:spcAft>
                <a:spcPts val="1400"/>
              </a:spcAft>
            </a:pPr>
            <a:r>
              <a:rPr sz="2000">
                <a:solidFill>
                  <a:srgbClr val="333333"/>
                </a:solidFill>
                <a:latin typeface="Calibri"/>
              </a:rPr>
              <a:t>•  Direct implications for staffing mix, triage design, and where public health messaging should be targeted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731520" y="502920"/>
            <a:ext cx="109728" cy="457200"/>
          </a:xfrm>
          <a:prstGeom prst="rect">
            <a:avLst/>
          </a:prstGeom>
          <a:solidFill>
            <a:srgbClr val="0096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60120" y="411480"/>
            <a:ext cx="10058400" cy="640080"/>
          </a:xfrm>
          <a:prstGeom prst="rect">
            <a:avLst/>
          </a:prstGeom>
          <a:noFill/>
        </p:spPr>
        <p:txBody>
          <a:bodyPr wrap="square">
            <a:spAutoFit/>
          </a:bodyPr>
          <a:lstStyle/>
          <a:p>
            <a:pPr algn="l"/>
            <a:r>
              <a:rPr sz="2800" b="1" i="0">
                <a:solidFill>
                  <a:srgbClr val="003087"/>
                </a:solidFill>
                <a:latin typeface="Calibri"/>
              </a:rPr>
              <a:t>Recommendations</a:t>
            </a:r>
          </a:p>
        </p:txBody>
      </p:sp>
      <p:sp>
        <p:nvSpPr>
          <p:cNvPr id="4" name="TextBox 3"/>
          <p:cNvSpPr txBox="1"/>
          <p:nvPr/>
        </p:nvSpPr>
        <p:spPr>
          <a:xfrm>
            <a:off x="960120" y="1371600"/>
            <a:ext cx="10241280" cy="4846320"/>
          </a:xfrm>
          <a:prstGeom prst="rect">
            <a:avLst/>
          </a:prstGeom>
          <a:noFill/>
        </p:spPr>
        <p:txBody>
          <a:bodyPr wrap="square">
            <a:spAutoFit/>
          </a:bodyPr>
          <a:lstStyle/>
          <a:p>
            <a:pPr>
              <a:lnSpc>
                <a:spcPct val="125000"/>
              </a:lnSpc>
              <a:spcAft>
                <a:spcPts val="1400"/>
              </a:spcAft>
            </a:pPr>
            <a:r>
              <a:rPr sz="2000">
                <a:solidFill>
                  <a:srgbClr val="333333"/>
                </a:solidFill>
                <a:latin typeface="Calibri"/>
              </a:rPr>
              <a:t>•  1. Study Mid Yorkshire first - it's the one trust meeting target. Before spending anywhere else, understand what's structurally different about their staffing model or patient flow - the cheapest possible win, because it's already proven to work somewhere in the system</a:t>
            </a:r>
          </a:p>
          <a:p>
            <a:pPr>
              <a:lnSpc>
                <a:spcPct val="125000"/>
              </a:lnSpc>
              <a:spcAft>
                <a:spcPts val="1400"/>
              </a:spcAft>
            </a:pPr>
            <a:r>
              <a:rPr sz="2000">
                <a:solidFill>
                  <a:srgbClr val="333333"/>
                </a:solidFill>
                <a:latin typeface="Calibri"/>
              </a:rPr>
              <a:t>•  2. Flag the amber trusts for active monitoring, not passive reporting - three flat years tells us these trusts will not self-correct on their own</a:t>
            </a:r>
          </a:p>
          <a:p>
            <a:pPr>
              <a:lnSpc>
                <a:spcPct val="125000"/>
              </a:lnSpc>
              <a:spcAft>
                <a:spcPts val="1400"/>
              </a:spcAft>
            </a:pPr>
            <a:r>
              <a:rPr sz="2000">
                <a:solidFill>
                  <a:srgbClr val="333333"/>
                </a:solidFill>
                <a:latin typeface="Calibri"/>
              </a:rPr>
              <a:t>•  3. Adopt this as the standing monthly review tool - it sits on a pipeline that refreshes automatically; this conversation should happen every month with current numbers, not as a retrospective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731520" y="502920"/>
            <a:ext cx="109728" cy="457200"/>
          </a:xfrm>
          <a:prstGeom prst="rect">
            <a:avLst/>
          </a:prstGeom>
          <a:solidFill>
            <a:srgbClr val="DA29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60120" y="411480"/>
            <a:ext cx="10058400" cy="640080"/>
          </a:xfrm>
          <a:prstGeom prst="rect">
            <a:avLst/>
          </a:prstGeom>
          <a:noFill/>
        </p:spPr>
        <p:txBody>
          <a:bodyPr wrap="square">
            <a:spAutoFit/>
          </a:bodyPr>
          <a:lstStyle/>
          <a:p>
            <a:pPr algn="l"/>
            <a:r>
              <a:rPr sz="2800" b="1" i="0">
                <a:solidFill>
                  <a:srgbClr val="003087"/>
                </a:solidFill>
                <a:latin typeface="Calibri"/>
              </a:rPr>
              <a:t>The Ask</a:t>
            </a:r>
          </a:p>
        </p:txBody>
      </p:sp>
      <p:sp>
        <p:nvSpPr>
          <p:cNvPr id="4" name="TextBox 3"/>
          <p:cNvSpPr txBox="1"/>
          <p:nvPr/>
        </p:nvSpPr>
        <p:spPr>
          <a:xfrm>
            <a:off x="960120" y="1371600"/>
            <a:ext cx="10241280" cy="4846320"/>
          </a:xfrm>
          <a:prstGeom prst="rect">
            <a:avLst/>
          </a:prstGeom>
          <a:noFill/>
        </p:spPr>
        <p:txBody>
          <a:bodyPr wrap="square">
            <a:spAutoFit/>
          </a:bodyPr>
          <a:lstStyle/>
          <a:p>
            <a:pPr>
              <a:lnSpc>
                <a:spcPct val="125000"/>
              </a:lnSpc>
              <a:spcAft>
                <a:spcPts val="1400"/>
              </a:spcAft>
            </a:pPr>
            <a:r>
              <a:rPr sz="2000">
                <a:solidFill>
                  <a:srgbClr val="333333"/>
                </a:solidFill>
                <a:latin typeface="Calibri"/>
              </a:rPr>
              <a:t>•  Sign-off to formally request Mid Yorkshire's operational data for a comparison study</a:t>
            </a:r>
          </a:p>
          <a:p>
            <a:pPr>
              <a:lnSpc>
                <a:spcPct val="125000"/>
              </a:lnSpc>
              <a:spcAft>
                <a:spcPts val="1400"/>
              </a:spcAft>
            </a:pPr>
            <a:r>
              <a:rPr sz="2000">
                <a:solidFill>
                  <a:srgbClr val="333333"/>
                </a:solidFill>
                <a:latin typeface="Calibri"/>
              </a:rPr>
              <a:t>•  Agreement that this dashboard becomes the standing monthly performance review - not something revisited only when there's a problem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731520" y="502920"/>
            <a:ext cx="109728" cy="457200"/>
          </a:xfrm>
          <a:prstGeom prst="rect">
            <a:avLst/>
          </a:prstGeom>
          <a:solidFill>
            <a:srgbClr val="7777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60120" y="411480"/>
            <a:ext cx="10058400" cy="640080"/>
          </a:xfrm>
          <a:prstGeom prst="rect">
            <a:avLst/>
          </a:prstGeom>
          <a:noFill/>
        </p:spPr>
        <p:txBody>
          <a:bodyPr wrap="square">
            <a:spAutoFit/>
          </a:bodyPr>
          <a:lstStyle/>
          <a:p>
            <a:pPr algn="l"/>
            <a:r>
              <a:rPr sz="2800" b="1" i="0">
                <a:solidFill>
                  <a:srgbClr val="003087"/>
                </a:solidFill>
                <a:latin typeface="Calibri"/>
              </a:rPr>
              <a:t>Backup — If Asked: Limitations</a:t>
            </a:r>
          </a:p>
        </p:txBody>
      </p:sp>
      <p:sp>
        <p:nvSpPr>
          <p:cNvPr id="4" name="TextBox 3"/>
          <p:cNvSpPr txBox="1"/>
          <p:nvPr/>
        </p:nvSpPr>
        <p:spPr>
          <a:xfrm>
            <a:off x="960120" y="1371600"/>
            <a:ext cx="10241280" cy="4846320"/>
          </a:xfrm>
          <a:prstGeom prst="rect">
            <a:avLst/>
          </a:prstGeom>
          <a:noFill/>
        </p:spPr>
        <p:txBody>
          <a:bodyPr wrap="square">
            <a:spAutoFit/>
          </a:bodyPr>
          <a:lstStyle/>
          <a:p>
            <a:pPr>
              <a:lnSpc>
                <a:spcPct val="125000"/>
              </a:lnSpc>
              <a:spcAft>
                <a:spcPts val="1400"/>
              </a:spcAft>
            </a:pPr>
            <a:r>
              <a:rPr sz="2000">
                <a:solidFill>
                  <a:srgbClr val="333333"/>
                </a:solidFill>
                <a:latin typeface="Calibri"/>
              </a:rPr>
              <a:t>•  Clicking a specific trust doesn't yet re-filter the demographic breakdown chart - those two data sources come from different original NHS reports and don't share a common organisation code reference yet</a:t>
            </a:r>
          </a:p>
          <a:p>
            <a:pPr>
              <a:lnSpc>
                <a:spcPct val="125000"/>
              </a:lnSpc>
              <a:spcAft>
                <a:spcPts val="1400"/>
              </a:spcAft>
            </a:pPr>
            <a:r>
              <a:rPr sz="2000">
                <a:solidFill>
                  <a:srgbClr val="333333"/>
                </a:solidFill>
                <a:latin typeface="Calibri"/>
              </a:rPr>
              <a:t>•  This is scoped, known follow-up work - not a hidden gap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