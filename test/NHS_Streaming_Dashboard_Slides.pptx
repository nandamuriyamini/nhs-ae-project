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before starting. Don't open by pointing at the screen.</a:t>
            </a:r>
          </a:p>
          <a:p/>
          <a:p>
            <a:r>
              <a:t>Say: 'The batch dashboard I showed earlier answers one question well: what happened over the last three years? This dashboard answers a different question - what is happening right now, in this exact minute?'</a:t>
            </a:r>
          </a:p>
          <a:p/>
          <a:p>
            <a:r>
              <a:t>Pause.</a:t>
            </a:r>
          </a:p>
          <a:p/>
          <a:p>
            <a:r>
              <a:t>Say: 'Three years of historical trend data can't tell you that a specific hospital is having a bad afternoon today. This can. I'm going to show you three things this gives you that the batch report can't, and then talk about what it would take to run this against real hospital systems instead of a simulated feed.'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briefly: 'Same architecture pattern as the batch dashboard, but reacting to a live event stream instead of monthly files - events flow into Event Hub, get captured into Bronze, cleaned into Silver using genuine Spark streaming, and exposed through Synapse for Power BI to query live.'</a:t>
            </a:r>
          </a:p>
          <a:p/>
          <a:p>
            <a:r>
              <a:t>Delivery note: one or two sentences, then move to the findings. Don't get pulled into a deep technical explanation here unless asked.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card here - Latest Event Time - is the most important number on the page. It's not a report generated once a month; every time I refresh this dashboard, that timestamp moves forward, because it's querying live data straight from the source system, not a copy sitting in a spreadsheet.'</a:t>
            </a:r>
          </a:p>
          <a:p/>
          <a:p>
            <a:r>
              <a:t>So what: 'This is the difference between finding out about a problem next month, and finding out about it while it's still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'Look at the disposition breakdown - I've deliberately colour-coded Left before treatment in red. In a live operational setting, if that number starts climbing during a shift, that's an early warning that patients are giving up on waiting - a genuine safety signal that's far more useful to catch in the moment than to discover in a monthly report after the fact.'</a:t>
            </a:r>
          </a:p>
          <a:p/>
          <a:p>
            <a:r>
              <a:t>So what: 'This turns a lagging indicator into a live one. The same metric, but caught while there's still time to act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slicers here let an operations team narrow straight down to one hospital, or one outcome type, during a live incident - without waiting for a data analyst to pull a custom report. If a specific trust is having a difficult afternoon, someone in a control-room type role could isolate that trust's live feed in two clicks.'</a:t>
            </a:r>
          </a:p>
          <a:p/>
          <a:p>
            <a:r>
              <a:t>So what: 'This is built for the person managing today, not the person reviewing last quarter.'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I'd suggest, in order.'</a:t>
            </a:r>
          </a:p>
          <a:p/>
          <a:p>
            <a:r>
              <a:t>1. 'Pilot this against a real event-level feed. Right now this runs on simulated data to prove the architecture works end-to-end - Event Hub, streaming ingestion, live Gold table, live dashboard. The next step is connecting it to an actual hospital system feed, even on a single trust, to validate it against real operational noise.'</a:t>
            </a:r>
          </a:p>
          <a:p/>
          <a:p>
            <a:r>
              <a:t>2. 'Define real thresholds for the safety signals. Left before treatment climbing is a useful signal, but someone clinical needs to define what level should trigger an actual alert versus normal daily variation.'</a:t>
            </a:r>
          </a:p>
          <a:p/>
          <a:p>
            <a:r>
              <a:t>3. 'Decide who owns watching this. A live dashboard only has value if someone is actually looking at it during the hours that matter - this needs an operational owner, not just a report that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concrete ask, not a trailing-off summary.</a:t>
            </a:r>
          </a:p>
          <a:p/>
          <a:p>
            <a:r>
              <a:t>Say: 'What I'd like from this group is agreement to identify one real-time data source - even from a single pilot trust - that we could connect this architecture to, so the next version of this isn't running on simulated events.'</a:t>
            </a:r>
          </a:p>
          <a:p/>
          <a:p>
            <a:r>
              <a:t>Delivery note: stop talking after this and let the room respond.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slide if asked.</a:t>
            </a:r>
          </a:p>
          <a:p/>
          <a:p>
            <a:r>
              <a:t>Say: 'To be transparent: the underlying event stream here is synthetic data I generated to prove out the pipeline, not live hospital data - there's no real-time NHS feed connected yet. I'd also flag that the ingestion path uses a polling-based workaround rather than a fully native streaming connector, due to a permissions constraint on the training environment, which I'd resolve differently in a production setting.'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087"/>
        </a:solidFill>
        <a:effectLst/>
      </p:bgPr>
    </p:bg>
    <p:spTree>
      <p:nvGrpSpPr>
        <p:cNvPr id="1" name=""/>
        <p:cNvGrpSpPr/>
        <p:nvPr/>
      </p:nvGrpSpPr>
      <p:grpSpPr/>
      <p:sp>
        <p:nvSpPr>
          <p:cNvPr id="2" name="Rectangle 1"/>
          <p:cNvSpPr/>
          <p:nvPr/>
        </p:nvSpPr>
        <p:spPr>
          <a:xfrm>
            <a:off x="0" y="2743200"/>
            <a:ext cx="12191695" cy="73152"/>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1097280"/>
          </a:xfrm>
          <a:prstGeom prst="rect">
            <a:avLst/>
          </a:prstGeom>
          <a:noFill/>
        </p:spPr>
        <p:txBody>
          <a:bodyPr wrap="square">
            <a:spAutoFit/>
          </a:bodyPr>
          <a:lstStyle/>
          <a:p>
            <a:pPr algn="l"/>
            <a:r>
              <a:rPr sz="4000" b="1" i="0">
                <a:solidFill>
                  <a:srgbClr val="FFFFFF"/>
                </a:solidFill>
                <a:latin typeface="Calibri"/>
              </a:rPr>
              <a:t>NHS A&amp;E Streaming Dashboard</a:t>
            </a:r>
          </a:p>
        </p:txBody>
      </p:sp>
      <p:sp>
        <p:nvSpPr>
          <p:cNvPr id="4" name="TextBox 3"/>
          <p:cNvSpPr txBox="1"/>
          <p:nvPr/>
        </p:nvSpPr>
        <p:spPr>
          <a:xfrm>
            <a:off x="731520" y="2926080"/>
            <a:ext cx="10698480" cy="731520"/>
          </a:xfrm>
          <a:prstGeom prst="rect">
            <a:avLst/>
          </a:prstGeom>
          <a:noFill/>
        </p:spPr>
        <p:txBody>
          <a:bodyPr wrap="square">
            <a:spAutoFit/>
          </a:bodyPr>
          <a:lstStyle/>
          <a:p>
            <a:pPr algn="l"/>
            <a:r>
              <a:rPr sz="2000" b="0" i="0">
                <a:solidFill>
                  <a:srgbClr val="CCDDEE"/>
                </a:solidFill>
                <a:latin typeface="Calibri"/>
              </a:rPr>
              <a:t>Real-Time Operational Monitoring  |  Live A&amp;E Event Feed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How This Was Built</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Synthetic A&amp;E event producer sends live events to Azure Event Hub (proxy for a real hospital feed)</a:t>
            </a:r>
          </a:p>
          <a:p>
            <a:pPr>
              <a:lnSpc>
                <a:spcPct val="125000"/>
              </a:lnSpc>
              <a:spcAft>
                <a:spcPts val="1400"/>
              </a:spcAft>
            </a:pPr>
            <a:r>
              <a:rPr sz="2000">
                <a:solidFill>
                  <a:srgbClr val="333333"/>
                </a:solidFill>
                <a:latin typeface="Calibri"/>
              </a:rPr>
              <a:t>•  Databricks Bronze layer ingests the live event stream</a:t>
            </a:r>
          </a:p>
          <a:p>
            <a:pPr>
              <a:lnSpc>
                <a:spcPct val="125000"/>
              </a:lnSpc>
              <a:spcAft>
                <a:spcPts val="1400"/>
              </a:spcAft>
            </a:pPr>
            <a:r>
              <a:rPr sz="2000">
                <a:solidFill>
                  <a:srgbClr val="333333"/>
                </a:solidFill>
                <a:latin typeface="Calibri"/>
              </a:rPr>
              <a:t>•  Databricks Silver layer cleans and de-duplicates events using Spark Structured Streaming</a:t>
            </a:r>
          </a:p>
          <a:p>
            <a:pPr>
              <a:lnSpc>
                <a:spcPct val="125000"/>
              </a:lnSpc>
              <a:spcAft>
                <a:spcPts val="1400"/>
              </a:spcAft>
            </a:pPr>
            <a:r>
              <a:rPr sz="2000">
                <a:solidFill>
                  <a:srgbClr val="333333"/>
                </a:solidFill>
                <a:latin typeface="Calibri"/>
              </a:rPr>
              <a:t>•  Azure Synapse: Gold layer external table exposes the cleaned event stream for reporting</a:t>
            </a:r>
          </a:p>
          <a:p>
            <a:pPr>
              <a:lnSpc>
                <a:spcPct val="125000"/>
              </a:lnSpc>
              <a:spcAft>
                <a:spcPts val="1400"/>
              </a:spcAft>
            </a:pPr>
            <a:r>
              <a:rPr sz="2000">
                <a:solidFill>
                  <a:srgbClr val="333333"/>
                </a:solidFill>
                <a:latin typeface="Calibri"/>
              </a:rPr>
              <a:t>•  Azure Data Factory orchestrates Bronze → Silver on a schedule</a:t>
            </a:r>
          </a:p>
          <a:p>
            <a:pPr>
              <a:lnSpc>
                <a:spcPct val="125000"/>
              </a:lnSpc>
              <a:spcAft>
                <a:spcPts val="1400"/>
              </a:spcAft>
            </a:pPr>
            <a:r>
              <a:rPr sz="2000">
                <a:solidFill>
                  <a:srgbClr val="333333"/>
                </a:solidFill>
                <a:latin typeface="Calibri"/>
              </a:rPr>
              <a:t>•  Power BI: connects via DirectQuery for live, on-demand querying</a:t>
            </a:r>
          </a:p>
        </p:txBody>
      </p:sp>
      <p:sp>
        <p:nvSpPr>
          <p:cNvPr id="5" name="TextBox 4"/>
          <p:cNvSpPr txBox="1"/>
          <p:nvPr/>
        </p:nvSpPr>
        <p:spPr>
          <a:xfrm>
            <a:off x="960120" y="6309360"/>
            <a:ext cx="10058400" cy="457200"/>
          </a:xfrm>
          <a:prstGeom prst="rect">
            <a:avLst/>
          </a:prstGeom>
          <a:noFill/>
        </p:spPr>
        <p:txBody>
          <a:bodyPr wrap="square">
            <a:spAutoFit/>
          </a:bodyPr>
          <a:lstStyle/>
          <a:p>
            <a:pPr algn="l"/>
            <a:r>
              <a:rPr sz="1300" b="0" i="1">
                <a:solidFill>
                  <a:srgbClr val="777777"/>
                </a:solidFill>
                <a:latin typeface="Calibri"/>
              </a:rPr>
              <a:t>Keep this brief, same as the batch deck - architecture is context, not the headline.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1 — Proof of a Genuinely Live Feed</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The 'Latest Event Time' card is the single most important number on this page</a:t>
            </a:r>
          </a:p>
          <a:p>
            <a:pPr>
              <a:lnSpc>
                <a:spcPct val="125000"/>
              </a:lnSpc>
              <a:spcAft>
                <a:spcPts val="1400"/>
              </a:spcAft>
            </a:pPr>
            <a:r>
              <a:rPr sz="2000">
                <a:solidFill>
                  <a:srgbClr val="333333"/>
                </a:solidFill>
                <a:latin typeface="Calibri"/>
              </a:rPr>
              <a:t>•  Every refresh, that timestamp moves forward - it's querying live data straight from source, not a copy sitting in a spreadsheet</a:t>
            </a:r>
          </a:p>
          <a:p>
            <a:pPr>
              <a:lnSpc>
                <a:spcPct val="125000"/>
              </a:lnSpc>
              <a:spcAft>
                <a:spcPts val="1400"/>
              </a:spcAft>
            </a:pPr>
            <a:r>
              <a:rPr sz="2000">
                <a:solidFill>
                  <a:srgbClr val="333333"/>
                </a:solidFill>
                <a:latin typeface="Calibri"/>
              </a:rPr>
              <a:t>•  This is not a report generated once a month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DA2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2 — A Real-Time Safety Signal</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Disposition breakdown deliberately colour-coded: 'Left before treatment' highlighted in red</a:t>
            </a:r>
          </a:p>
          <a:p>
            <a:pPr>
              <a:lnSpc>
                <a:spcPct val="125000"/>
              </a:lnSpc>
              <a:spcAft>
                <a:spcPts val="1400"/>
              </a:spcAft>
            </a:pPr>
            <a:r>
              <a:rPr sz="2000">
                <a:solidFill>
                  <a:srgbClr val="333333"/>
                </a:solidFill>
                <a:latin typeface="Calibri"/>
              </a:rPr>
              <a:t>•  If that number climbs during a live shift, it's an early warning that patients are giving up on waiting - a genuine safety signal</a:t>
            </a:r>
          </a:p>
          <a:p>
            <a:pPr>
              <a:lnSpc>
                <a:spcPct val="125000"/>
              </a:lnSpc>
              <a:spcAft>
                <a:spcPts val="1400"/>
              </a:spcAft>
            </a:pPr>
            <a:r>
              <a:rPr sz="2000">
                <a:solidFill>
                  <a:srgbClr val="333333"/>
                </a:solidFill>
                <a:latin typeface="Calibri"/>
              </a:rPr>
              <a:t>•  Far more useful to catch in the moment than to discover in next month's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3 — Operational Drill-Down, in Real Time</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Slicers let an operations team narrow straight down to one hospital, or one outcome type, during a live incident</a:t>
            </a:r>
          </a:p>
          <a:p>
            <a:pPr>
              <a:lnSpc>
                <a:spcPct val="125000"/>
              </a:lnSpc>
              <a:spcAft>
                <a:spcPts val="1400"/>
              </a:spcAft>
            </a:pPr>
            <a:r>
              <a:rPr sz="2000">
                <a:solidFill>
                  <a:srgbClr val="333333"/>
                </a:solidFill>
                <a:latin typeface="Calibri"/>
              </a:rPr>
              <a:t>•  No need to wait for a data analyst to pull a custom report</a:t>
            </a:r>
          </a:p>
          <a:p>
            <a:pPr>
              <a:lnSpc>
                <a:spcPct val="125000"/>
              </a:lnSpc>
              <a:spcAft>
                <a:spcPts val="1400"/>
              </a:spcAft>
            </a:pPr>
            <a:r>
              <a:rPr sz="2000">
                <a:solidFill>
                  <a:srgbClr val="333333"/>
                </a:solidFill>
                <a:latin typeface="Calibri"/>
              </a:rPr>
              <a:t>•  A specific trust having a difficult afternoon can be isolated in two clicks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Recommendations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1. Pilot this against a real event-level feed - this currently runs on simulated data to prove the architecture works end-to-end; the next step is connecting it to an actual hospital system feed, even on a single trust</a:t>
            </a:r>
          </a:p>
          <a:p>
            <a:pPr>
              <a:lnSpc>
                <a:spcPct val="125000"/>
              </a:lnSpc>
              <a:spcAft>
                <a:spcPts val="1400"/>
              </a:spcAft>
            </a:pPr>
            <a:r>
              <a:rPr sz="2000">
                <a:solidFill>
                  <a:srgbClr val="333333"/>
                </a:solidFill>
                <a:latin typeface="Calibri"/>
              </a:rPr>
              <a:t>•  2. Define real thresholds for the safety signals - someone clinical needs to define what level of 'left before treatment' should trigger an actual alert versus normal daily variation</a:t>
            </a:r>
          </a:p>
          <a:p>
            <a:pPr>
              <a:lnSpc>
                <a:spcPct val="125000"/>
              </a:lnSpc>
              <a:spcAft>
                <a:spcPts val="1400"/>
              </a:spcAft>
            </a:pPr>
            <a:r>
              <a:rPr sz="2000">
                <a:solidFill>
                  <a:srgbClr val="333333"/>
                </a:solidFill>
                <a:latin typeface="Calibri"/>
              </a:rPr>
              <a:t>•  3. Decide who owns watching this - a live dashboard only has value if someone is actually looking at it during the hours that matter; this needs an operational owner, not just a report that exists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DA2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The Ask</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Agreement to identify one real-time data source - even from a single pilot trust - that this architecture could connect to</a:t>
            </a:r>
          </a:p>
          <a:p>
            <a:pPr>
              <a:lnSpc>
                <a:spcPct val="125000"/>
              </a:lnSpc>
              <a:spcAft>
                <a:spcPts val="1400"/>
              </a:spcAft>
            </a:pPr>
            <a:r>
              <a:rPr sz="2000">
                <a:solidFill>
                  <a:srgbClr val="333333"/>
                </a:solidFill>
                <a:latin typeface="Calibri"/>
              </a:rPr>
              <a:t>•  So the next version of this isn't running on simulated events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Backup — If Asked: Limitations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The underlying event stream is synthetic data generated to prove out the pipeline - there is no live hospital feed connected yet</a:t>
            </a:r>
          </a:p>
          <a:p>
            <a:pPr>
              <a:lnSpc>
                <a:spcPct val="125000"/>
              </a:lnSpc>
              <a:spcAft>
                <a:spcPts val="1400"/>
              </a:spcAft>
            </a:pPr>
            <a:r>
              <a:rPr sz="2000">
                <a:solidFill>
                  <a:srgbClr val="333333"/>
                </a:solidFill>
                <a:latin typeface="Calibri"/>
              </a:rPr>
              <a:t>•  The ingestion path uses a polling-based workaround rather than a fully native streaming connector, due to a permissions constraint on the training environment - would be resolved differently in a production setting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