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'What I want to walk you through today isn't just a couple of dashboards - it's a full production-style data platform I built on Azure, covering both traditional batch reporting and real-time streaming, using genuine NHS England data as the foundation.'</a:t>
            </a:r>
          </a:p>
          <a:p/>
          <a:p>
            <a:r>
              <a:t>Delivery note: this is the project overview - set the scope here, then the next two slides establish why this matters and how it's built, before going into details.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goal here was deliberately broad - not just to learn one tool in isolation, but to build something that mirrors how a real organisation would structure a data platform: raw data coming in, getting cleaned and standardised in stages, landing in a reporting layer, and being automated end to end rather than run by hand every time.'</a:t>
            </a:r>
          </a:p>
          <a:p/>
          <a:p>
            <a:r>
              <a:t>Delivery note: keep this slide as context-setting - move through it briskly.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covers essentially the full modern Azure data stack - ingestion, storage, transformation, a serverless reporting layer, visualisation, and a streaming ingestion path through Event Hubs, all tied together with proper secrets management through Key Vault rather than anything hardcoded.'</a:t>
            </a:r>
          </a:p>
          <a:p/>
          <a:p>
            <a:r>
              <a:t>Delivery note: if presenting to a technical audience, this is a good slide to pause on slightly longer. If presenting to business leadership, move through it quickly - they care more about what it enables than the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the batch side, NHS source files land in the platform, Data Factory kicks off the pipeline, raw data is captured in Bronze, Databricks cleans and standardises it into Silver, and Synapse builds eleven reporting tables in the Gold layer using CETAS - which Power BI then queries live through DirectQuery.'</a:t>
            </a:r>
          </a:p>
          <a:p/>
          <a:p>
            <a:r>
              <a:t>Say: 'This entire chain is automated through a single Data Factory pipeline - it clears out the old Gold output, reruns the notebooks, and rebuilds the reporting tables, so refreshing this for a new month of NHS data is a single trigger, not a manual multi-step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streaming side mirrors the same Bronze/Silver/Gold shape, but reacts to a live event feed rather than monthly files. A producer sends synthetic A&amp;E events into Event Hub, Databricks captures them into Bronze, and a genuine Spark Structured Streaming job cleans and de-duplicates them into Silver, which Synapse then exposes for reporting.'</a:t>
            </a:r>
          </a:p>
          <a:p/>
          <a:p>
            <a:r>
              <a:t>Say: 'One engineering detail worth mentioning: the Silver step uses a bounded streaming trigger - it processes whatever's new, then exits cleanly - rather than running forever. That's what makes it safe for Data Factory to call on a repeating schedule, instead of stacking up multiple infinite streaming jobs every time it runs.'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reason for the three-layer split rather than going straight from source to dashboard is resilience and traceability. Bronze keeps an untouched copy of exactly what we received, so if a transformation rule turns out to be wrong, we can always go back and reprocess from the raw data rather than from a result we no longer trust. Silver is where the real engineering happens - cleaning, standardising, fixing known data quality issues. Gold is shaped specifically around what the dashboards need.'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batch data is genuine NHS England published statistics - not invented numbers - covering A&amp;E attendance and emergency care performance across the country, at both national and individual trust level, over a three-year span. The streaming side uses a synthetic generator standing in for a real hospital feed, designed to look statistically realistic, which is something I'd want to replace with an actual feed as a next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few of the harder problems worth highlighting, because they're the kind of thing that doesn't show up in a tutorial. Re-saving the original NHS files in Excel quietly mangled date formatting in a way that broke every downstream date parse - the fix was regenerating clean files straight from the original source, never touching them in Excel again. NHS data uses dash and asterisk placeholders for suppressed small numbers, which silently turns a numeric column into text and breaks simple SUM aggregations in Power BI - that needed a specific DAX pattern to handle safely. And on the streaming side, the Event Hub tier available didn't support the Kafka protocol that the standard Spark connector needs, so I built a workaround using the Event Hub SDK directly.'</a:t>
            </a:r>
          </a:p>
          <a:p/>
          <a:p>
            <a:r>
              <a:t>Delivery note: this slide demonstrates depth - don't rush it if the audience is technical. If it's senior leadership, summarise as 'we hit and solved several real data-quality and infrastructure issues along the way'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'Both pipelines are built so that refreshing the data is a single action, not a checklist of manual steps. That's the difference between a one-off analysis and something that could actually run in production - it's repeatable, it's scheduled, and it doesn't depend on someone remembering the right order to run six notebooks 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two dashboards themselves each have their own dedicated presentation, going deep into the specific findings and recommendations - what I've covered today is the platform underneath both of them. Happy to walk through either dashboard in detail separately if useful.'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honest next steps: moving the streaming side off synthetic data and onto a real feed is the single biggest step toward making this production-relevant. On the batch side, there's still a manual step in rebuilding the Gold tables that I'd want to fully automate. And there's a known data-modelling gap between two of the NHS datasets that would be worth resolving to make the batch dashboard more interactive.'</a:t>
            </a:r>
          </a:p>
          <a:p/>
          <a:p>
            <a:r>
              <a:t>Delivery note: ending on an honest roadmap, rather than implying everything is finished, reads as more credible to senior reviewers than overstating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Keep the limitations slides from the two dashboard decks handy in case anything specific comes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087"/>
        </a:solidFill>
        <a:effectLst/>
      </p:bgPr>
    </p:bg>
    <p:spTree>
      <p:nvGrpSpPr>
        <p:cNvPr id="1" name=""/>
        <p:cNvGrpSpPr/>
        <p:nvPr/>
      </p:nvGrpSpPr>
      <p:grpSpPr/>
      <p:sp>
        <p:nvSpPr>
          <p:cNvPr id="2" name="Rectangle 1"/>
          <p:cNvSpPr/>
          <p:nvPr/>
        </p:nvSpPr>
        <p:spPr>
          <a:xfrm>
            <a:off x="0" y="2743200"/>
            <a:ext cx="12191695" cy="7315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097280"/>
          </a:xfrm>
          <a:prstGeom prst="rect">
            <a:avLst/>
          </a:prstGeom>
          <a:noFill/>
        </p:spPr>
        <p:txBody>
          <a:bodyPr wrap="square">
            <a:spAutoFit/>
          </a:bodyPr>
          <a:lstStyle/>
          <a:p>
            <a:pPr algn="l"/>
            <a:r>
              <a:rPr sz="3800" b="1" i="0">
                <a:solidFill>
                  <a:srgbClr val="FFFFFF"/>
                </a:solidFill>
                <a:latin typeface="Calibri"/>
              </a:rPr>
              <a:t>NHS A&amp;E Data Engineering Platform</a:t>
            </a:r>
          </a:p>
        </p:txBody>
      </p:sp>
      <p:sp>
        <p:nvSpPr>
          <p:cNvPr id="4" name="TextBox 3"/>
          <p:cNvSpPr txBox="1"/>
          <p:nvPr/>
        </p:nvSpPr>
        <p:spPr>
          <a:xfrm>
            <a:off x="731520" y="2880360"/>
            <a:ext cx="10698480" cy="640080"/>
          </a:xfrm>
          <a:prstGeom prst="rect">
            <a:avLst/>
          </a:prstGeom>
          <a:noFill/>
        </p:spPr>
        <p:txBody>
          <a:bodyPr wrap="square">
            <a:spAutoFit/>
          </a:bodyPr>
          <a:lstStyle/>
          <a:p>
            <a:pPr algn="l"/>
            <a:r>
              <a:rPr sz="1900" b="0" i="0">
                <a:solidFill>
                  <a:srgbClr val="CCDDEE"/>
                </a:solidFill>
                <a:latin typeface="Calibri"/>
              </a:rPr>
              <a:t>An End-to-End Azure Data Platform — Batch Analytics &amp; Real-Time Streaming</a:t>
            </a:r>
          </a:p>
        </p:txBody>
      </p:sp>
      <p:sp>
        <p:nvSpPr>
          <p:cNvPr id="5" name="TextBox 4"/>
          <p:cNvSpPr txBox="1"/>
          <p:nvPr/>
        </p:nvSpPr>
        <p:spPr>
          <a:xfrm>
            <a:off x="731520" y="6035040"/>
            <a:ext cx="10698480" cy="457200"/>
          </a:xfrm>
          <a:prstGeom prst="rect">
            <a:avLst/>
          </a:prstGeom>
          <a:noFill/>
        </p:spPr>
        <p:txBody>
          <a:bodyPr wrap="square">
            <a:spAutoFit/>
          </a:bodyPr>
          <a:lstStyle/>
          <a:p>
            <a:pPr algn="l"/>
            <a:r>
              <a:rPr sz="1400" b="0" i="0">
                <a:solidFill>
                  <a:srgbClr val="99BBDD"/>
                </a:solidFill>
                <a:latin typeface="Calibri"/>
              </a:rPr>
              <a:t>Yamini Nandamuri  |  Data Engineering Training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Project Objectives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Build a real, working Azure data engineering platform - not a toy exercise - using genuine NHS England published statistics as the dataset</a:t>
            </a:r>
          </a:p>
          <a:p>
            <a:pPr>
              <a:lnSpc>
                <a:spcPct val="120000"/>
              </a:lnSpc>
              <a:spcAft>
                <a:spcPts val="1200"/>
              </a:spcAft>
            </a:pPr>
            <a:r>
              <a:rPr sz="1800">
                <a:solidFill>
                  <a:srgbClr val="333333"/>
                </a:solidFill>
                <a:latin typeface="Calibri"/>
              </a:rPr>
              <a:t>•  Cover the full toolchain used in production data platforms: ADF, ADLS, Databricks, Synapse, Power BI, Event Hubs, Key Vault</a:t>
            </a:r>
          </a:p>
          <a:p>
            <a:pPr>
              <a:lnSpc>
                <a:spcPct val="120000"/>
              </a:lnSpc>
              <a:spcAft>
                <a:spcPts val="1200"/>
              </a:spcAft>
            </a:pPr>
            <a:r>
              <a:rPr sz="1800">
                <a:solidFill>
                  <a:srgbClr val="333333"/>
                </a:solidFill>
                <a:latin typeface="Calibri"/>
              </a:rPr>
              <a:t>•  Implement the medallion architecture pattern (Bronze / Silver / Gold) end-to-end</a:t>
            </a:r>
          </a:p>
          <a:p>
            <a:pPr>
              <a:lnSpc>
                <a:spcPct val="120000"/>
              </a:lnSpc>
              <a:spcAft>
                <a:spcPts val="1200"/>
              </a:spcAft>
            </a:pPr>
            <a:r>
              <a:rPr sz="1800">
                <a:solidFill>
                  <a:srgbClr val="333333"/>
                </a:solidFill>
                <a:latin typeface="Calibri"/>
              </a:rPr>
              <a:t>•  Deliver two distinct, business-relevant outputs: a historical performance dashboard (batch) and a live operational monitoring dashboard (streaming)</a:t>
            </a:r>
          </a:p>
          <a:p>
            <a:pPr>
              <a:lnSpc>
                <a:spcPct val="120000"/>
              </a:lnSpc>
              <a:spcAft>
                <a:spcPts val="1200"/>
              </a:spcAft>
            </a:pPr>
            <a:r>
              <a:rPr sz="1800">
                <a:solidFill>
                  <a:srgbClr val="333333"/>
                </a:solidFill>
                <a:latin typeface="Calibri"/>
              </a:rPr>
              <a:t>•  Demonstrate orchestration and automation, not just one-off manual notebook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Technology Stack</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Azure Data Factory — pipeline orchestration and scheduling for both batch and streaming flows</a:t>
            </a:r>
          </a:p>
          <a:p>
            <a:pPr>
              <a:lnSpc>
                <a:spcPct val="120000"/>
              </a:lnSpc>
              <a:spcAft>
                <a:spcPts val="1200"/>
              </a:spcAft>
            </a:pPr>
            <a:r>
              <a:rPr sz="1800">
                <a:solidFill>
                  <a:srgbClr val="333333"/>
                </a:solidFill>
                <a:latin typeface="Calibri"/>
              </a:rPr>
              <a:t>•  Azure Data Lake Storage Gen2 — Bronze / Silver storage layers (Delta format)</a:t>
            </a:r>
          </a:p>
          <a:p>
            <a:pPr>
              <a:lnSpc>
                <a:spcPct val="120000"/>
              </a:lnSpc>
              <a:spcAft>
                <a:spcPts val="1200"/>
              </a:spcAft>
            </a:pPr>
            <a:r>
              <a:rPr sz="1800">
                <a:solidFill>
                  <a:srgbClr val="333333"/>
                </a:solidFill>
                <a:latin typeface="Calibri"/>
              </a:rPr>
              <a:t>•  Azure Databricks (PySpark) — data cleaning, standardisation, and stream processing</a:t>
            </a:r>
          </a:p>
          <a:p>
            <a:pPr>
              <a:lnSpc>
                <a:spcPct val="120000"/>
              </a:lnSpc>
              <a:spcAft>
                <a:spcPts val="1200"/>
              </a:spcAft>
            </a:pPr>
            <a:r>
              <a:rPr sz="1800">
                <a:solidFill>
                  <a:srgbClr val="333333"/>
                </a:solidFill>
                <a:latin typeface="Calibri"/>
              </a:rPr>
              <a:t>•  Azure Event Hubs — ingestion endpoint for the real-time A&amp;E event stream</a:t>
            </a:r>
          </a:p>
          <a:p>
            <a:pPr>
              <a:lnSpc>
                <a:spcPct val="120000"/>
              </a:lnSpc>
              <a:spcAft>
                <a:spcPts val="1200"/>
              </a:spcAft>
            </a:pPr>
            <a:r>
              <a:rPr sz="1800">
                <a:solidFill>
                  <a:srgbClr val="333333"/>
                </a:solidFill>
                <a:latin typeface="Calibri"/>
              </a:rPr>
              <a:t>•  Azure Synapse Serverless SQL — Gold reporting layer, built via CETAS / external tables</a:t>
            </a:r>
          </a:p>
          <a:p>
            <a:pPr>
              <a:lnSpc>
                <a:spcPct val="120000"/>
              </a:lnSpc>
              <a:spcAft>
                <a:spcPts val="1200"/>
              </a:spcAft>
            </a:pPr>
            <a:r>
              <a:rPr sz="1800">
                <a:solidFill>
                  <a:srgbClr val="333333"/>
                </a:solidFill>
                <a:latin typeface="Calibri"/>
              </a:rPr>
              <a:t>•  Power BI — DirectQuery dashboards, always querying live current data</a:t>
            </a:r>
          </a:p>
          <a:p>
            <a:pPr>
              <a:lnSpc>
                <a:spcPct val="120000"/>
              </a:lnSpc>
              <a:spcAft>
                <a:spcPts val="1200"/>
              </a:spcAft>
            </a:pPr>
            <a:r>
              <a:rPr sz="1800">
                <a:solidFill>
                  <a:srgbClr val="333333"/>
                </a:solidFill>
                <a:latin typeface="Calibri"/>
              </a:rPr>
              <a:t>•  Azure Key Vault — centralised secrets management (connection strings, SAS tokens)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Solution Architecture — Batch Pipeline</a:t>
            </a:r>
          </a:p>
        </p:txBody>
      </p:sp>
      <p:sp>
        <p:nvSpPr>
          <p:cNvPr id="4" name="Rounded Rectangle 3"/>
          <p:cNvSpPr/>
          <p:nvPr/>
        </p:nvSpPr>
        <p:spPr>
          <a:xfrm>
            <a:off x="548640" y="2103120"/>
            <a:ext cx="1691640" cy="1005840"/>
          </a:xfrm>
          <a:prstGeom prst="roundRect">
            <a:avLst/>
          </a:prstGeom>
          <a:solidFill>
            <a:srgbClr val="003087"/>
          </a:solidFill>
          <a:ln>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NHS Source Files</a:t>
            </a:r>
          </a:p>
          <a:p>
            <a:pPr algn="ctr"/>
            <a:r>
              <a:rPr sz="1000">
                <a:solidFill>
                  <a:srgbClr val="FFFFFF"/>
                </a:solidFill>
                <a:latin typeface="Calibri"/>
              </a:rPr>
              <a:t>CSV / Excel exports</a:t>
            </a:r>
          </a:p>
        </p:txBody>
      </p:sp>
      <p:sp>
        <p:nvSpPr>
          <p:cNvPr id="5" name="Right Arrow 4"/>
          <p:cNvSpPr/>
          <p:nvPr/>
        </p:nvSpPr>
        <p:spPr>
          <a:xfrm>
            <a:off x="226028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88920" y="2103120"/>
            <a:ext cx="1691640" cy="1005840"/>
          </a:xfrm>
          <a:prstGeom prst="roundRect">
            <a:avLst/>
          </a:prstGeom>
          <a:solidFill>
            <a:srgbClr val="005EB8"/>
          </a:solidFill>
          <a:ln>
            <a:solidFill>
              <a:srgbClr val="005E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Data Factory</a:t>
            </a:r>
          </a:p>
          <a:p>
            <a:pPr algn="ctr"/>
            <a:r>
              <a:rPr sz="1000">
                <a:solidFill>
                  <a:srgbClr val="FFFFFF"/>
                </a:solidFill>
                <a:latin typeface="Calibri"/>
              </a:rPr>
              <a:t>Orchestration</a:t>
            </a:r>
          </a:p>
        </p:txBody>
      </p:sp>
      <p:sp>
        <p:nvSpPr>
          <p:cNvPr id="7" name="Right Arrow 6"/>
          <p:cNvSpPr/>
          <p:nvPr/>
        </p:nvSpPr>
        <p:spPr>
          <a:xfrm>
            <a:off x="450056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2103120"/>
            <a:ext cx="1691640" cy="1005840"/>
          </a:xfrm>
          <a:prstGeom prst="roundRect">
            <a:avLst/>
          </a:prstGeom>
          <a:solidFill>
            <a:srgbClr val="005EB8"/>
          </a:solidFill>
          <a:ln>
            <a:solidFill>
              <a:srgbClr val="005E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ADLS Bronze</a:t>
            </a:r>
          </a:p>
          <a:p>
            <a:pPr algn="ctr"/>
            <a:r>
              <a:rPr sz="1000">
                <a:solidFill>
                  <a:srgbClr val="FFFFFF"/>
                </a:solidFill>
                <a:latin typeface="Calibri"/>
              </a:rPr>
              <a:t>Raw ingest</a:t>
            </a:r>
          </a:p>
        </p:txBody>
      </p:sp>
      <p:sp>
        <p:nvSpPr>
          <p:cNvPr id="9" name="Right Arrow 8"/>
          <p:cNvSpPr/>
          <p:nvPr/>
        </p:nvSpPr>
        <p:spPr>
          <a:xfrm>
            <a:off x="674084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69480" y="2103120"/>
            <a:ext cx="1691640" cy="1005840"/>
          </a:xfrm>
          <a:prstGeom prst="roundRect">
            <a:avLst/>
          </a:prstGeom>
          <a:solidFill>
            <a:srgbClr val="009639"/>
          </a:solidFill>
          <a:ln>
            <a:solidFill>
              <a:srgbClr val="0096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Databricks</a:t>
            </a:r>
          </a:p>
          <a:p>
            <a:pPr algn="ctr"/>
            <a:r>
              <a:rPr sz="1000">
                <a:solidFill>
                  <a:srgbClr val="FFFFFF"/>
                </a:solidFill>
                <a:latin typeface="Calibri"/>
              </a:rPr>
              <a:t>Silver: cleaned &amp; standardised</a:t>
            </a:r>
          </a:p>
        </p:txBody>
      </p:sp>
      <p:sp>
        <p:nvSpPr>
          <p:cNvPr id="11" name="Right Arrow 10"/>
          <p:cNvSpPr/>
          <p:nvPr/>
        </p:nvSpPr>
        <p:spPr>
          <a:xfrm>
            <a:off x="898112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09760" y="2103120"/>
            <a:ext cx="1691640" cy="1005840"/>
          </a:xfrm>
          <a:prstGeom prst="roundRect">
            <a:avLst/>
          </a:prstGeom>
          <a:solidFill>
            <a:srgbClr val="FFB81C"/>
          </a:solidFill>
          <a:ln>
            <a:solidFill>
              <a:srgbClr val="FFB8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Synapse Gold</a:t>
            </a:r>
          </a:p>
          <a:p>
            <a:pPr algn="ctr"/>
            <a:r>
              <a:rPr sz="1000">
                <a:solidFill>
                  <a:srgbClr val="FFFFFF"/>
                </a:solidFill>
                <a:latin typeface="Calibri"/>
              </a:rPr>
              <a:t>11 reporting tables (CETAS)</a:t>
            </a:r>
          </a:p>
        </p:txBody>
      </p:sp>
      <p:sp>
        <p:nvSpPr>
          <p:cNvPr id="13" name="Right Arrow 12"/>
          <p:cNvSpPr/>
          <p:nvPr/>
        </p:nvSpPr>
        <p:spPr>
          <a:xfrm>
            <a:off x="1122140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750040" y="2103120"/>
            <a:ext cx="1691640" cy="1005840"/>
          </a:xfrm>
          <a:prstGeom prst="roundRect">
            <a:avLst/>
          </a:prstGeom>
          <a:solidFill>
            <a:srgbClr val="DA291C"/>
          </a:solidFill>
          <a:ln>
            <a:solidFill>
              <a:srgbClr val="DA29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Power BI</a:t>
            </a:r>
          </a:p>
          <a:p>
            <a:pPr algn="ctr"/>
            <a:r>
              <a:rPr sz="1000">
                <a:solidFill>
                  <a:srgbClr val="FFFFFF"/>
                </a:solidFill>
                <a:latin typeface="Calibri"/>
              </a:rPr>
              <a:t>DirectQuery dashboard</a:t>
            </a:r>
          </a:p>
        </p:txBody>
      </p:sp>
      <p:sp>
        <p:nvSpPr>
          <p:cNvPr id="15" name="TextBox 14"/>
          <p:cNvSpPr txBox="1"/>
          <p:nvPr/>
        </p:nvSpPr>
        <p:spPr>
          <a:xfrm>
            <a:off x="731520" y="3931920"/>
            <a:ext cx="10515600" cy="1828800"/>
          </a:xfrm>
          <a:prstGeom prst="rect">
            <a:avLst/>
          </a:prstGeom>
          <a:noFill/>
        </p:spPr>
        <p:txBody>
          <a:bodyPr wrap="square">
            <a:spAutoFit/>
          </a:bodyPr>
          <a:lstStyle/>
          <a:p>
            <a:pPr algn="l"/>
            <a:r>
              <a:rPr sz="1600" b="0" i="0">
                <a:solidFill>
                  <a:srgbClr val="333333"/>
                </a:solidFill>
                <a:latin typeface="Calibri"/>
              </a:rPr>
              <a:t>Refreshes on a schedule via the Gold_Refresh_Pipeline in Data Factory: clears the prior Gold output, re-runs the Bronze and Silver Databricks notebooks, and rebuilds the 11 Gold tables - fully automated, no manual notebook runs required.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Solution Architecture — Streaming Pipeline</a:t>
            </a:r>
          </a:p>
        </p:txBody>
      </p:sp>
      <p:sp>
        <p:nvSpPr>
          <p:cNvPr id="4" name="Rounded Rectangle 3"/>
          <p:cNvSpPr/>
          <p:nvPr/>
        </p:nvSpPr>
        <p:spPr>
          <a:xfrm>
            <a:off x="548640" y="2103120"/>
            <a:ext cx="1691640" cy="1005840"/>
          </a:xfrm>
          <a:prstGeom prst="roundRect">
            <a:avLst/>
          </a:prstGeom>
          <a:solidFill>
            <a:srgbClr val="003087"/>
          </a:solidFill>
          <a:ln>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Event Producer</a:t>
            </a:r>
          </a:p>
          <a:p>
            <a:pPr algn="ctr"/>
            <a:r>
              <a:rPr sz="1000">
                <a:solidFill>
                  <a:srgbClr val="FFFFFF"/>
                </a:solidFill>
                <a:latin typeface="Calibri"/>
              </a:rPr>
              <a:t>Synthetic A&amp;E events</a:t>
            </a:r>
          </a:p>
        </p:txBody>
      </p:sp>
      <p:sp>
        <p:nvSpPr>
          <p:cNvPr id="5" name="Right Arrow 4"/>
          <p:cNvSpPr/>
          <p:nvPr/>
        </p:nvSpPr>
        <p:spPr>
          <a:xfrm>
            <a:off x="226028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88920" y="2103120"/>
            <a:ext cx="1691640" cy="1005840"/>
          </a:xfrm>
          <a:prstGeom prst="roundRect">
            <a:avLst/>
          </a:prstGeom>
          <a:solidFill>
            <a:srgbClr val="005EB8"/>
          </a:solidFill>
          <a:ln>
            <a:solidFill>
              <a:srgbClr val="005E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Event Hub</a:t>
            </a:r>
          </a:p>
          <a:p>
            <a:pPr algn="ctr"/>
            <a:r>
              <a:rPr sz="1000">
                <a:solidFill>
                  <a:srgbClr val="FFFFFF"/>
                </a:solidFill>
                <a:latin typeface="Calibri"/>
              </a:rPr>
              <a:t>Ingestion endpoint</a:t>
            </a:r>
          </a:p>
        </p:txBody>
      </p:sp>
      <p:sp>
        <p:nvSpPr>
          <p:cNvPr id="7" name="Right Arrow 6"/>
          <p:cNvSpPr/>
          <p:nvPr/>
        </p:nvSpPr>
        <p:spPr>
          <a:xfrm>
            <a:off x="450056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2103120"/>
            <a:ext cx="1691640" cy="1005840"/>
          </a:xfrm>
          <a:prstGeom prst="roundRect">
            <a:avLst/>
          </a:prstGeom>
          <a:solidFill>
            <a:srgbClr val="005EB8"/>
          </a:solidFill>
          <a:ln>
            <a:solidFill>
              <a:srgbClr val="005E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Databricks Bronze</a:t>
            </a:r>
          </a:p>
          <a:p>
            <a:pPr algn="ctr"/>
            <a:r>
              <a:rPr sz="1000">
                <a:solidFill>
                  <a:srgbClr val="FFFFFF"/>
                </a:solidFill>
                <a:latin typeface="Calibri"/>
              </a:rPr>
              <a:t>Captures live events</a:t>
            </a:r>
          </a:p>
        </p:txBody>
      </p:sp>
      <p:sp>
        <p:nvSpPr>
          <p:cNvPr id="9" name="Right Arrow 8"/>
          <p:cNvSpPr/>
          <p:nvPr/>
        </p:nvSpPr>
        <p:spPr>
          <a:xfrm>
            <a:off x="674084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69480" y="2103120"/>
            <a:ext cx="1691640" cy="1005840"/>
          </a:xfrm>
          <a:prstGeom prst="roundRect">
            <a:avLst/>
          </a:prstGeom>
          <a:solidFill>
            <a:srgbClr val="009639"/>
          </a:solidFill>
          <a:ln>
            <a:solidFill>
              <a:srgbClr val="0096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Databricks Silver</a:t>
            </a:r>
          </a:p>
          <a:p>
            <a:pPr algn="ctr"/>
            <a:r>
              <a:rPr sz="1000">
                <a:solidFill>
                  <a:srgbClr val="FFFFFF"/>
                </a:solidFill>
                <a:latin typeface="Calibri"/>
              </a:rPr>
              <a:t>Spark Structured Streaming, de-dup</a:t>
            </a:r>
          </a:p>
        </p:txBody>
      </p:sp>
      <p:sp>
        <p:nvSpPr>
          <p:cNvPr id="11" name="Right Arrow 10"/>
          <p:cNvSpPr/>
          <p:nvPr/>
        </p:nvSpPr>
        <p:spPr>
          <a:xfrm>
            <a:off x="898112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509760" y="2103120"/>
            <a:ext cx="1691640" cy="1005840"/>
          </a:xfrm>
          <a:prstGeom prst="roundRect">
            <a:avLst/>
          </a:prstGeom>
          <a:solidFill>
            <a:srgbClr val="FFB81C"/>
          </a:solidFill>
          <a:ln>
            <a:solidFill>
              <a:srgbClr val="FFB8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Synapse Gold</a:t>
            </a:r>
          </a:p>
          <a:p>
            <a:pPr algn="ctr"/>
            <a:r>
              <a:rPr sz="1000">
                <a:solidFill>
                  <a:srgbClr val="FFFFFF"/>
                </a:solidFill>
                <a:latin typeface="Calibri"/>
              </a:rPr>
              <a:t>live_ae_events external table</a:t>
            </a:r>
          </a:p>
        </p:txBody>
      </p:sp>
      <p:sp>
        <p:nvSpPr>
          <p:cNvPr id="13" name="Right Arrow 12"/>
          <p:cNvSpPr/>
          <p:nvPr/>
        </p:nvSpPr>
        <p:spPr>
          <a:xfrm>
            <a:off x="11221400" y="2496312"/>
            <a:ext cx="320040" cy="219456"/>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750040" y="2103120"/>
            <a:ext cx="1691640" cy="1005840"/>
          </a:xfrm>
          <a:prstGeom prst="roundRect">
            <a:avLst/>
          </a:prstGeom>
          <a:solidFill>
            <a:srgbClr val="DA291C"/>
          </a:solidFill>
          <a:ln>
            <a:solidFill>
              <a:srgbClr val="DA29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Power BI</a:t>
            </a:r>
          </a:p>
          <a:p>
            <a:pPr algn="ctr"/>
            <a:r>
              <a:rPr sz="1000">
                <a:solidFill>
                  <a:srgbClr val="FFFFFF"/>
                </a:solidFill>
                <a:latin typeface="Calibri"/>
              </a:rPr>
              <a:t>Live monitoring dashboard</a:t>
            </a:r>
          </a:p>
        </p:txBody>
      </p:sp>
      <p:sp>
        <p:nvSpPr>
          <p:cNvPr id="15" name="TextBox 14"/>
          <p:cNvSpPr txBox="1"/>
          <p:nvPr/>
        </p:nvSpPr>
        <p:spPr>
          <a:xfrm>
            <a:off x="731520" y="3931920"/>
            <a:ext cx="10515600" cy="2011680"/>
          </a:xfrm>
          <a:prstGeom prst="rect">
            <a:avLst/>
          </a:prstGeom>
          <a:noFill/>
        </p:spPr>
        <p:txBody>
          <a:bodyPr wrap="square">
            <a:spAutoFit/>
          </a:bodyPr>
          <a:lstStyle/>
          <a:p>
            <a:pPr algn="l"/>
            <a:r>
              <a:rPr sz="1600" b="0" i="0">
                <a:solidFill>
                  <a:srgbClr val="333333"/>
                </a:solidFill>
                <a:latin typeface="Calibri"/>
              </a:rPr>
              <a:t>Bronze and Silver are orchestrated by Data Factory's Streaming_Pipeline on a schedule. Silver uses Spark's trigger(availableNow=True) - it processes whatever's newly arrived, then stops, making it safe to call repeatedly on a schedule rather than running as a never-ending query.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Medallion Architecture — Why Three Layers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Bronze: raw data, exactly as received - no transformation, full traceability back to source</a:t>
            </a:r>
          </a:p>
          <a:p>
            <a:pPr>
              <a:lnSpc>
                <a:spcPct val="120000"/>
              </a:lnSpc>
              <a:spcAft>
                <a:spcPts val="1200"/>
              </a:spcAft>
            </a:pPr>
            <a:r>
              <a:rPr sz="1800">
                <a:solidFill>
                  <a:srgbClr val="333333"/>
                </a:solidFill>
                <a:latin typeface="Calibri"/>
              </a:rPr>
              <a:t>•  Silver: cleaned, standardised, de-duplicated - column names normalised, data types corrected, suppressed/invalid values handled consistently</a:t>
            </a:r>
          </a:p>
          <a:p>
            <a:pPr>
              <a:lnSpc>
                <a:spcPct val="120000"/>
              </a:lnSpc>
              <a:spcAft>
                <a:spcPts val="1200"/>
              </a:spcAft>
            </a:pPr>
            <a:r>
              <a:rPr sz="1800">
                <a:solidFill>
                  <a:srgbClr val="333333"/>
                </a:solidFill>
                <a:latin typeface="Calibri"/>
              </a:rPr>
              <a:t>•  Gold: business-ready reporting tables - aggregated, joined, and shaped specifically for the dashboards that consume them</a:t>
            </a:r>
          </a:p>
          <a:p>
            <a:pPr>
              <a:lnSpc>
                <a:spcPct val="120000"/>
              </a:lnSpc>
              <a:spcAft>
                <a:spcPts val="1200"/>
              </a:spcAft>
            </a:pPr>
            <a:r>
              <a:rPr sz="1800">
                <a:solidFill>
                  <a:srgbClr val="333333"/>
                </a:solidFill>
                <a:latin typeface="Calibri"/>
              </a:rPr>
              <a:t>•  Each layer can be rebuilt independently - if a transformation rule changes, only Silver and Gold need to be rerun, Bronze never needs to be re-ingested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Data Sources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NHS England published statistics: A&amp;E Attendances and Emergency Admissions, ECDS (Emergency Care Data Set) Activity, ECDS Performance</a:t>
            </a:r>
          </a:p>
          <a:p>
            <a:pPr>
              <a:lnSpc>
                <a:spcPct val="120000"/>
              </a:lnSpc>
              <a:spcAft>
                <a:spcPts val="1200"/>
              </a:spcAft>
            </a:pPr>
            <a:r>
              <a:rPr sz="1800">
                <a:solidFill>
                  <a:srgbClr val="333333"/>
                </a:solidFill>
                <a:latin typeface="Calibri"/>
              </a:rPr>
              <a:t>•  National and trust-level monthly/quarterly figures spanning three years</a:t>
            </a:r>
          </a:p>
          <a:p>
            <a:pPr>
              <a:lnSpc>
                <a:spcPct val="120000"/>
              </a:lnSpc>
              <a:spcAft>
                <a:spcPts val="1200"/>
              </a:spcAft>
            </a:pPr>
            <a:r>
              <a:rPr sz="1800">
                <a:solidFill>
                  <a:srgbClr val="333333"/>
                </a:solidFill>
                <a:latin typeface="Calibri"/>
              </a:rPr>
              <a:t>•  Combined into unified datasets covering hundreds of thousands of rows across multiple NHS reporting cycles</a:t>
            </a:r>
          </a:p>
          <a:p>
            <a:pPr>
              <a:lnSpc>
                <a:spcPct val="120000"/>
              </a:lnSpc>
              <a:spcAft>
                <a:spcPts val="1200"/>
              </a:spcAft>
            </a:pPr>
            <a:r>
              <a:rPr sz="1800">
                <a:solidFill>
                  <a:srgbClr val="333333"/>
                </a:solidFill>
                <a:latin typeface="Calibri"/>
              </a:rPr>
              <a:t>•  Streaming side: a synthetic event generator standing in for a real-time hospital feed, modelled on realistic A&amp;E attendance patterns (attendance type, age band, gender, disposition)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Engineering Challenges Solved</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700">
                <a:solidFill>
                  <a:srgbClr val="333333"/>
                </a:solidFill>
                <a:latin typeface="Calibri"/>
              </a:rPr>
              <a:t>•  Excel-induced data corruption: resaving source files in Excel silently reformatted date columns, breaking downstream parsing - fixed by regenerating CSVs directly from original source files</a:t>
            </a:r>
          </a:p>
          <a:p>
            <a:pPr>
              <a:lnSpc>
                <a:spcPct val="120000"/>
              </a:lnSpc>
              <a:spcAft>
                <a:spcPts val="1200"/>
              </a:spcAft>
            </a:pPr>
            <a:r>
              <a:rPr sz="1700">
                <a:solidFill>
                  <a:srgbClr val="333333"/>
                </a:solidFill>
                <a:latin typeface="Calibri"/>
              </a:rPr>
              <a:t>•  NHS small-number suppression markers ('-', '*') forced numeric columns to be read as text, breaking SUM/aggregation - resolved with DAX measures that safely skip non-numeric values</a:t>
            </a:r>
          </a:p>
          <a:p>
            <a:pPr>
              <a:lnSpc>
                <a:spcPct val="120000"/>
              </a:lnSpc>
              <a:spcAft>
                <a:spcPts val="1200"/>
              </a:spcAft>
            </a:pPr>
            <a:r>
              <a:rPr sz="1700">
                <a:solidFill>
                  <a:srgbClr val="333333"/>
                </a:solidFill>
                <a:latin typeface="Calibri"/>
              </a:rPr>
              <a:t>•  Event Hub Basic tier doesn't support the Kafka-compatible protocol needed for native Spark streaming connectors - worked around using the Event Hub SDK directly inside Databricks</a:t>
            </a:r>
          </a:p>
          <a:p>
            <a:pPr>
              <a:lnSpc>
                <a:spcPct val="120000"/>
              </a:lnSpc>
              <a:spcAft>
                <a:spcPts val="1200"/>
              </a:spcAft>
            </a:pPr>
            <a:r>
              <a:rPr sz="1700">
                <a:solidFill>
                  <a:srgbClr val="333333"/>
                </a:solidFill>
                <a:latin typeface="Calibri"/>
              </a:rPr>
              <a:t>•  Synapse Serverless SQL credential/permission issues (expired SAS tokens, missing managed identity grants) - resolved through scoped credential rotation and explicit AAD user grants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Automation via Data Factory</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Gold_Refresh_Pipeline (batch): clears prior Gold output → reruns Bronze/Silver notebooks → rebuilds the 11 Gold reporting tables</a:t>
            </a:r>
          </a:p>
          <a:p>
            <a:pPr>
              <a:lnSpc>
                <a:spcPct val="120000"/>
              </a:lnSpc>
              <a:spcAft>
                <a:spcPts val="1200"/>
              </a:spcAft>
            </a:pPr>
            <a:r>
              <a:rPr sz="1800">
                <a:solidFill>
                  <a:srgbClr val="333333"/>
                </a:solidFill>
                <a:latin typeface="Calibri"/>
              </a:rPr>
              <a:t>•  Streaming_Pipeline: runs the Bronze capture and Silver streaming-transform notebooks back to back, on a repeating schedule</a:t>
            </a:r>
          </a:p>
          <a:p>
            <a:pPr>
              <a:lnSpc>
                <a:spcPct val="120000"/>
              </a:lnSpc>
              <a:spcAft>
                <a:spcPts val="1200"/>
              </a:spcAft>
            </a:pPr>
            <a:r>
              <a:rPr sz="1800">
                <a:solidFill>
                  <a:srgbClr val="333333"/>
                </a:solidFill>
                <a:latin typeface="Calibri"/>
              </a:rPr>
              <a:t>•  Both pipelines authenticate to Databricks and Synapse using managed identities - no hardcoded credentials anywhere in the pipeline definitions</a:t>
            </a:r>
          </a:p>
          <a:p>
            <a:pPr>
              <a:lnSpc>
                <a:spcPct val="120000"/>
              </a:lnSpc>
              <a:spcAft>
                <a:spcPts val="1200"/>
              </a:spcAft>
            </a:pPr>
            <a:r>
              <a:rPr sz="1800">
                <a:solidFill>
                  <a:srgbClr val="333333"/>
                </a:solidFill>
                <a:latin typeface="Calibri"/>
              </a:rPr>
              <a:t>•  Designed so a full data refresh is a single trigger, not a manual sequence of notebook runs and SQL scripts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DA2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Deliverables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Batch Dashboard (NHS_Batch_Dashboard.pbix) — three-year national and trust-level A&amp;E performance review, RAG-coded against the 95% 4-hour target, with demographic breakdowns</a:t>
            </a:r>
          </a:p>
          <a:p>
            <a:pPr>
              <a:lnSpc>
                <a:spcPct val="120000"/>
              </a:lnSpc>
              <a:spcAft>
                <a:spcPts val="1200"/>
              </a:spcAft>
            </a:pPr>
            <a:r>
              <a:rPr sz="1800">
                <a:solidFill>
                  <a:srgbClr val="333333"/>
                </a:solidFill>
                <a:latin typeface="Calibri"/>
              </a:rPr>
              <a:t>•  Streaming Dashboard (NHS_Streaming_Dashboard.pbix) — live operational monitoring view of the current A&amp;E event feed, including a real-time safety signal on patients leaving before treatment</a:t>
            </a:r>
          </a:p>
          <a:p>
            <a:pPr>
              <a:lnSpc>
                <a:spcPct val="120000"/>
              </a:lnSpc>
              <a:spcAft>
                <a:spcPts val="1200"/>
              </a:spcAft>
            </a:pPr>
            <a:r>
              <a:rPr sz="1800">
                <a:solidFill>
                  <a:srgbClr val="333333"/>
                </a:solidFill>
                <a:latin typeface="Calibri"/>
              </a:rPr>
              <a:t>•  Two dedicated presentation decks covering each dashboard's findings and business recommendations in detail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FFB8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What's Next</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0000"/>
              </a:lnSpc>
              <a:spcAft>
                <a:spcPts val="1200"/>
              </a:spcAft>
            </a:pPr>
            <a:r>
              <a:rPr sz="1800">
                <a:solidFill>
                  <a:srgbClr val="333333"/>
                </a:solidFill>
                <a:latin typeface="Calibri"/>
              </a:rPr>
              <a:t>•  Connect the streaming pipeline to a real hospital event feed, even on a single pilot trust</a:t>
            </a:r>
          </a:p>
          <a:p>
            <a:pPr>
              <a:lnSpc>
                <a:spcPct val="120000"/>
              </a:lnSpc>
              <a:spcAft>
                <a:spcPts val="1200"/>
              </a:spcAft>
            </a:pPr>
            <a:r>
              <a:rPr sz="1800">
                <a:solidFill>
                  <a:srgbClr val="333333"/>
                </a:solidFill>
                <a:latin typeface="Calibri"/>
              </a:rPr>
              <a:t>•  Define clinically-owned alert thresholds for the real-time safety signals</a:t>
            </a:r>
          </a:p>
          <a:p>
            <a:pPr>
              <a:lnSpc>
                <a:spcPct val="120000"/>
              </a:lnSpc>
              <a:spcAft>
                <a:spcPts val="1200"/>
              </a:spcAft>
            </a:pPr>
            <a:r>
              <a:rPr sz="1800">
                <a:solidFill>
                  <a:srgbClr val="333333"/>
                </a:solidFill>
                <a:latin typeface="Calibri"/>
              </a:rPr>
              <a:t>•  Resolve the remaining batch-pipeline automation step - scheduling the Synapse Gold rebuild itself via Data Factory, not just the Databricks notebooks</a:t>
            </a:r>
          </a:p>
          <a:p>
            <a:pPr>
              <a:lnSpc>
                <a:spcPct val="120000"/>
              </a:lnSpc>
              <a:spcAft>
                <a:spcPts val="1200"/>
              </a:spcAft>
            </a:pPr>
            <a:r>
              <a:rPr sz="1800">
                <a:solidFill>
                  <a:srgbClr val="333333"/>
                </a:solidFill>
                <a:latin typeface="Calibri"/>
              </a:rPr>
              <a:t>•  Investigate linking trust-level and demographic datasets on a shared organisation code, to enable cross-filtering between dashboard visuals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087"/>
        </a:solidFill>
        <a:effectLst/>
      </p:bgPr>
    </p:bg>
    <p:spTree>
      <p:nvGrpSpPr>
        <p:cNvPr id="1" name=""/>
        <p:cNvGrpSpPr/>
        <p:nvPr/>
      </p:nvGrpSpPr>
      <p:grpSpPr/>
      <p:sp>
        <p:nvSpPr>
          <p:cNvPr id="2" name="TextBox 1"/>
          <p:cNvSpPr txBox="1"/>
          <p:nvPr/>
        </p:nvSpPr>
        <p:spPr>
          <a:xfrm>
            <a:off x="731520" y="2743200"/>
            <a:ext cx="10698480" cy="914400"/>
          </a:xfrm>
          <a:prstGeom prst="rect">
            <a:avLst/>
          </a:prstGeom>
          <a:noFill/>
        </p:spPr>
        <p:txBody>
          <a:bodyPr wrap="square">
            <a:spAutoFit/>
          </a:bodyPr>
          <a:lstStyle/>
          <a:p>
            <a:pPr algn="l"/>
            <a:r>
              <a:rPr sz="4000" b="1" i="0">
                <a:solidFill>
                  <a:srgbClr val="FFFFFF"/>
                </a:solidFill>
                <a:latin typeface="Calibri"/>
              </a:rPr>
              <a:t>Thank You</a:t>
            </a:r>
          </a:p>
        </p:txBody>
      </p:sp>
      <p:sp>
        <p:nvSpPr>
          <p:cNvPr id="3" name="TextBox 2"/>
          <p:cNvSpPr txBox="1"/>
          <p:nvPr/>
        </p:nvSpPr>
        <p:spPr>
          <a:xfrm>
            <a:off x="731520" y="3566160"/>
            <a:ext cx="10698480" cy="548640"/>
          </a:xfrm>
          <a:prstGeom prst="rect">
            <a:avLst/>
          </a:prstGeom>
          <a:noFill/>
        </p:spPr>
        <p:txBody>
          <a:bodyPr wrap="square">
            <a:spAutoFit/>
          </a:bodyPr>
          <a:lstStyle/>
          <a:p>
            <a:pPr algn="l"/>
            <a:r>
              <a:rPr sz="2000" b="0" i="0">
                <a:solidFill>
                  <a:srgbClr val="CCDDEE"/>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